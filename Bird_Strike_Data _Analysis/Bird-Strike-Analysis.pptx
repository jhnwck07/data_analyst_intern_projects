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PT Serif"/>
      <p:regular r:id="rId15"/>
    </p:embeddedFont>
    <p:embeddedFont>
      <p:font typeface="PT Serif"/>
      <p:regular r:id="rId16"/>
    </p:embeddedFont>
    <p:embeddedFont>
      <p:font typeface="PT Serif"/>
      <p:regular r:id="rId17"/>
    </p:embeddedFont>
    <p:embeddedFont>
      <p:font typeface="PT Serif"/>
      <p:regular r:id="rId18"/>
    </p:embeddedFont>
    <p:embeddedFont>
      <p:font typeface="DM Sans"/>
      <p:regular r:id="rId19"/>
    </p:embeddedFont>
    <p:embeddedFont>
      <p:font typeface="DM Sans"/>
      <p:regular r:id="rId20"/>
    </p:embeddedFont>
    <p:embeddedFont>
      <p:font typeface="DM Sans"/>
      <p:regular r:id="rId21"/>
    </p:embeddedFont>
    <p:embeddedFont>
      <p:font typeface="DM Sans"/>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7.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4037" y="2219087"/>
            <a:ext cx="7415927" cy="2235994"/>
          </a:xfrm>
          <a:prstGeom prst="rect">
            <a:avLst/>
          </a:prstGeom>
          <a:noFill/>
          <a:ln/>
        </p:spPr>
        <p:txBody>
          <a:bodyPr wrap="square" lIns="0" tIns="0" rIns="0" bIns="0" rtlCol="0" anchor="t"/>
          <a:lstStyle/>
          <a:p>
            <a:pPr indent="0" marL="0">
              <a:lnSpc>
                <a:spcPts val="8800"/>
              </a:lnSpc>
              <a:buNone/>
            </a:pPr>
            <a:r>
              <a:rPr lang="en-US" sz="7000" dirty="0">
                <a:solidFill>
                  <a:srgbClr val="020202"/>
                </a:solidFill>
                <a:latin typeface="PT Serif" pitchFamily="34" charset="0"/>
                <a:ea typeface="PT Serif" pitchFamily="34" charset="-122"/>
                <a:cs typeface="PT Serif" pitchFamily="34" charset="-120"/>
              </a:rPr>
              <a:t>Bird Strike Analysis</a:t>
            </a:r>
            <a:endParaRPr lang="en-US" sz="7000" dirty="0"/>
          </a:p>
        </p:txBody>
      </p:sp>
      <p:sp>
        <p:nvSpPr>
          <p:cNvPr id="4" name="Text 1"/>
          <p:cNvSpPr/>
          <p:nvPr/>
        </p:nvSpPr>
        <p:spPr>
          <a:xfrm>
            <a:off x="864037" y="4825365"/>
            <a:ext cx="7415927" cy="1185148"/>
          </a:xfrm>
          <a:prstGeom prst="rect">
            <a:avLst/>
          </a:prstGeom>
          <a:noFill/>
          <a:ln/>
        </p:spPr>
        <p:txBody>
          <a:bodyPr wrap="square" lIns="0" tIns="0" rIns="0" bIns="0" rtlCol="0" anchor="t"/>
          <a:lstStyle/>
          <a:p>
            <a:pPr indent="0" marL="0">
              <a:lnSpc>
                <a:spcPts val="3100"/>
              </a:lnSpc>
              <a:buNone/>
            </a:pPr>
            <a:r>
              <a:rPr lang="en-US" sz="1900" dirty="0">
                <a:solidFill>
                  <a:srgbClr val="383838"/>
                </a:solidFill>
                <a:latin typeface="DM Sans" pitchFamily="34" charset="0"/>
                <a:ea typeface="DM Sans" pitchFamily="34" charset="-122"/>
                <a:cs typeface="DM Sans" pitchFamily="34" charset="-120"/>
              </a:rPr>
              <a:t>This presentation analyzes bird strike data from the FAA between 2000-2011, examining the impact on aviation safety and exploring potential mitigation strategies.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10922" y="720328"/>
            <a:ext cx="6508313" cy="666512"/>
          </a:xfrm>
          <a:prstGeom prst="rect">
            <a:avLst/>
          </a:prstGeom>
          <a:noFill/>
          <a:ln/>
        </p:spPr>
        <p:txBody>
          <a:bodyPr wrap="none" lIns="0" tIns="0" rIns="0" bIns="0" rtlCol="0" anchor="t"/>
          <a:lstStyle/>
          <a:p>
            <a:pPr indent="0" marL="0">
              <a:lnSpc>
                <a:spcPts val="5200"/>
              </a:lnSpc>
              <a:buNone/>
            </a:pPr>
            <a:r>
              <a:rPr lang="en-US" sz="4150" dirty="0">
                <a:solidFill>
                  <a:srgbClr val="020202"/>
                </a:solidFill>
                <a:latin typeface="PT Serif" pitchFamily="34" charset="0"/>
                <a:ea typeface="PT Serif" pitchFamily="34" charset="-122"/>
                <a:cs typeface="PT Serif" pitchFamily="34" charset="-120"/>
              </a:rPr>
              <a:t>The Problem of Bird Strikes</a:t>
            </a:r>
            <a:endParaRPr lang="en-US" sz="4150" dirty="0"/>
          </a:p>
        </p:txBody>
      </p:sp>
      <p:sp>
        <p:nvSpPr>
          <p:cNvPr id="4" name="Text 1"/>
          <p:cNvSpPr/>
          <p:nvPr/>
        </p:nvSpPr>
        <p:spPr>
          <a:xfrm>
            <a:off x="710922" y="1691521"/>
            <a:ext cx="7722156" cy="974765"/>
          </a:xfrm>
          <a:prstGeom prst="rect">
            <a:avLst/>
          </a:prstGeom>
          <a:noFill/>
          <a:ln/>
        </p:spPr>
        <p:txBody>
          <a:bodyPr wrap="square" lIns="0" tIns="0" rIns="0" bIns="0" rtlCol="0" anchor="t"/>
          <a:lstStyle/>
          <a:p>
            <a:pPr indent="0" marL="0">
              <a:lnSpc>
                <a:spcPts val="2550"/>
              </a:lnSpc>
              <a:buNone/>
            </a:pPr>
            <a:r>
              <a:rPr lang="en-US" sz="1550" dirty="0">
                <a:solidFill>
                  <a:srgbClr val="383838"/>
                </a:solidFill>
                <a:latin typeface="DM Sans" pitchFamily="34" charset="0"/>
                <a:ea typeface="DM Sans" pitchFamily="34" charset="-122"/>
                <a:cs typeface="DM Sans" pitchFamily="34" charset="-120"/>
              </a:rPr>
              <a:t>Bird strikes pose a significant threat to aircraft safety, potentially causing damage to structures, engines, and flight control systems. They are most common during takeoff, landing, and low-altitude flight.</a:t>
            </a:r>
            <a:endParaRPr lang="en-US" sz="1550" dirty="0"/>
          </a:p>
        </p:txBody>
      </p:sp>
      <p:sp>
        <p:nvSpPr>
          <p:cNvPr id="5" name="Shape 2"/>
          <p:cNvSpPr/>
          <p:nvPr/>
        </p:nvSpPr>
        <p:spPr>
          <a:xfrm>
            <a:off x="710922" y="2894767"/>
            <a:ext cx="7722156" cy="1511022"/>
          </a:xfrm>
          <a:prstGeom prst="roundRect">
            <a:avLst>
              <a:gd name="adj" fmla="val 2017"/>
            </a:avLst>
          </a:prstGeom>
          <a:solidFill>
            <a:srgbClr val="F2EEEE"/>
          </a:solidFill>
          <a:ln/>
        </p:spPr>
      </p:sp>
      <p:sp>
        <p:nvSpPr>
          <p:cNvPr id="6" name="Text 3"/>
          <p:cNvSpPr/>
          <p:nvPr/>
        </p:nvSpPr>
        <p:spPr>
          <a:xfrm>
            <a:off x="914043" y="3097887"/>
            <a:ext cx="2666167" cy="333137"/>
          </a:xfrm>
          <a:prstGeom prst="rect">
            <a:avLst/>
          </a:prstGeom>
          <a:noFill/>
          <a:ln/>
        </p:spPr>
        <p:txBody>
          <a:bodyPr wrap="none" lIns="0" tIns="0" rIns="0" bIns="0" rtlCol="0" anchor="t"/>
          <a:lstStyle/>
          <a:p>
            <a:pPr indent="0" marL="0">
              <a:lnSpc>
                <a:spcPts val="2600"/>
              </a:lnSpc>
              <a:buNone/>
            </a:pPr>
            <a:r>
              <a:rPr lang="en-US" sz="2050" dirty="0">
                <a:solidFill>
                  <a:srgbClr val="383838"/>
                </a:solidFill>
                <a:latin typeface="PT Serif" pitchFamily="34" charset="0"/>
                <a:ea typeface="PT Serif" pitchFamily="34" charset="-122"/>
                <a:cs typeface="PT Serif" pitchFamily="34" charset="-120"/>
              </a:rPr>
              <a:t>Safety Hazard</a:t>
            </a:r>
            <a:endParaRPr lang="en-US" sz="2050" dirty="0"/>
          </a:p>
        </p:txBody>
      </p:sp>
      <p:sp>
        <p:nvSpPr>
          <p:cNvPr id="7" name="Text 4"/>
          <p:cNvSpPr/>
          <p:nvPr/>
        </p:nvSpPr>
        <p:spPr>
          <a:xfrm>
            <a:off x="914043" y="3552825"/>
            <a:ext cx="7315914" cy="649843"/>
          </a:xfrm>
          <a:prstGeom prst="rect">
            <a:avLst/>
          </a:prstGeom>
          <a:noFill/>
          <a:ln/>
        </p:spPr>
        <p:txBody>
          <a:bodyPr wrap="square" lIns="0" tIns="0" rIns="0" bIns="0" rtlCol="0" anchor="t"/>
          <a:lstStyle/>
          <a:p>
            <a:pPr indent="0" marL="0">
              <a:lnSpc>
                <a:spcPts val="2550"/>
              </a:lnSpc>
              <a:buNone/>
            </a:pPr>
            <a:r>
              <a:rPr lang="en-US" sz="1550" dirty="0">
                <a:solidFill>
                  <a:srgbClr val="383838"/>
                </a:solidFill>
                <a:latin typeface="DM Sans" pitchFamily="34" charset="0"/>
                <a:ea typeface="DM Sans" pitchFamily="34" charset="-122"/>
                <a:cs typeface="DM Sans" pitchFamily="34" charset="-120"/>
              </a:rPr>
              <a:t>Collisions can lead to severe damage, engine failure, and even catastrophic accidents.</a:t>
            </a:r>
            <a:endParaRPr lang="en-US" sz="1550" dirty="0"/>
          </a:p>
        </p:txBody>
      </p:sp>
      <p:sp>
        <p:nvSpPr>
          <p:cNvPr id="8" name="Shape 5"/>
          <p:cNvSpPr/>
          <p:nvPr/>
        </p:nvSpPr>
        <p:spPr>
          <a:xfrm>
            <a:off x="710922" y="4608909"/>
            <a:ext cx="7722156" cy="1511022"/>
          </a:xfrm>
          <a:prstGeom prst="roundRect">
            <a:avLst>
              <a:gd name="adj" fmla="val 2017"/>
            </a:avLst>
          </a:prstGeom>
          <a:solidFill>
            <a:srgbClr val="F2EEEE"/>
          </a:solidFill>
          <a:ln/>
        </p:spPr>
      </p:sp>
      <p:sp>
        <p:nvSpPr>
          <p:cNvPr id="9" name="Text 6"/>
          <p:cNvSpPr/>
          <p:nvPr/>
        </p:nvSpPr>
        <p:spPr>
          <a:xfrm>
            <a:off x="914043" y="4812030"/>
            <a:ext cx="2666167" cy="333137"/>
          </a:xfrm>
          <a:prstGeom prst="rect">
            <a:avLst/>
          </a:prstGeom>
          <a:noFill/>
          <a:ln/>
        </p:spPr>
        <p:txBody>
          <a:bodyPr wrap="none" lIns="0" tIns="0" rIns="0" bIns="0" rtlCol="0" anchor="t"/>
          <a:lstStyle/>
          <a:p>
            <a:pPr indent="0" marL="0">
              <a:lnSpc>
                <a:spcPts val="2600"/>
              </a:lnSpc>
              <a:buNone/>
            </a:pPr>
            <a:r>
              <a:rPr lang="en-US" sz="2050" dirty="0">
                <a:solidFill>
                  <a:srgbClr val="383838"/>
                </a:solidFill>
                <a:latin typeface="PT Serif" pitchFamily="34" charset="0"/>
                <a:ea typeface="PT Serif" pitchFamily="34" charset="-122"/>
                <a:cs typeface="PT Serif" pitchFamily="34" charset="-120"/>
              </a:rPr>
              <a:t>Common Occurrences</a:t>
            </a:r>
            <a:endParaRPr lang="en-US" sz="2050" dirty="0"/>
          </a:p>
        </p:txBody>
      </p:sp>
      <p:sp>
        <p:nvSpPr>
          <p:cNvPr id="10" name="Text 7"/>
          <p:cNvSpPr/>
          <p:nvPr/>
        </p:nvSpPr>
        <p:spPr>
          <a:xfrm>
            <a:off x="914043" y="5266968"/>
            <a:ext cx="7315914" cy="649843"/>
          </a:xfrm>
          <a:prstGeom prst="rect">
            <a:avLst/>
          </a:prstGeom>
          <a:noFill/>
          <a:ln/>
        </p:spPr>
        <p:txBody>
          <a:bodyPr wrap="square" lIns="0" tIns="0" rIns="0" bIns="0" rtlCol="0" anchor="t"/>
          <a:lstStyle/>
          <a:p>
            <a:pPr indent="0" marL="0">
              <a:lnSpc>
                <a:spcPts val="2550"/>
              </a:lnSpc>
              <a:buNone/>
            </a:pPr>
            <a:r>
              <a:rPr lang="en-US" sz="1550" dirty="0">
                <a:solidFill>
                  <a:srgbClr val="383838"/>
                </a:solidFill>
                <a:latin typeface="DM Sans" pitchFamily="34" charset="0"/>
                <a:ea typeface="DM Sans" pitchFamily="34" charset="-122"/>
                <a:cs typeface="DM Sans" pitchFamily="34" charset="-120"/>
              </a:rPr>
              <a:t>Most frequent at altitudes below 3,000 feet, near airports during ascent or descent.</a:t>
            </a:r>
            <a:endParaRPr lang="en-US" sz="1550" dirty="0"/>
          </a:p>
        </p:txBody>
      </p:sp>
      <p:sp>
        <p:nvSpPr>
          <p:cNvPr id="11" name="Shape 8"/>
          <p:cNvSpPr/>
          <p:nvPr/>
        </p:nvSpPr>
        <p:spPr>
          <a:xfrm>
            <a:off x="710922" y="6323052"/>
            <a:ext cx="7722156" cy="1186101"/>
          </a:xfrm>
          <a:prstGeom prst="roundRect">
            <a:avLst>
              <a:gd name="adj" fmla="val 2569"/>
            </a:avLst>
          </a:prstGeom>
          <a:solidFill>
            <a:srgbClr val="F2EEEE"/>
          </a:solidFill>
          <a:ln/>
        </p:spPr>
      </p:sp>
      <p:sp>
        <p:nvSpPr>
          <p:cNvPr id="12" name="Text 9"/>
          <p:cNvSpPr/>
          <p:nvPr/>
        </p:nvSpPr>
        <p:spPr>
          <a:xfrm>
            <a:off x="914043" y="6526173"/>
            <a:ext cx="2666167" cy="333137"/>
          </a:xfrm>
          <a:prstGeom prst="rect">
            <a:avLst/>
          </a:prstGeom>
          <a:noFill/>
          <a:ln/>
        </p:spPr>
        <p:txBody>
          <a:bodyPr wrap="none" lIns="0" tIns="0" rIns="0" bIns="0" rtlCol="0" anchor="t"/>
          <a:lstStyle/>
          <a:p>
            <a:pPr indent="0" marL="0">
              <a:lnSpc>
                <a:spcPts val="2600"/>
              </a:lnSpc>
              <a:buNone/>
            </a:pPr>
            <a:r>
              <a:rPr lang="en-US" sz="2050" dirty="0">
                <a:solidFill>
                  <a:srgbClr val="383838"/>
                </a:solidFill>
                <a:latin typeface="PT Serif" pitchFamily="34" charset="0"/>
                <a:ea typeface="PT Serif" pitchFamily="34" charset="-122"/>
                <a:cs typeface="PT Serif" pitchFamily="34" charset="-120"/>
              </a:rPr>
              <a:t>Costly Consequences</a:t>
            </a:r>
            <a:endParaRPr lang="en-US" sz="2050" dirty="0"/>
          </a:p>
        </p:txBody>
      </p:sp>
      <p:sp>
        <p:nvSpPr>
          <p:cNvPr id="13" name="Text 10"/>
          <p:cNvSpPr/>
          <p:nvPr/>
        </p:nvSpPr>
        <p:spPr>
          <a:xfrm>
            <a:off x="914043" y="6981111"/>
            <a:ext cx="7315914" cy="324922"/>
          </a:xfrm>
          <a:prstGeom prst="rect">
            <a:avLst/>
          </a:prstGeom>
          <a:noFill/>
          <a:ln/>
        </p:spPr>
        <p:txBody>
          <a:bodyPr wrap="none" lIns="0" tIns="0" rIns="0" bIns="0" rtlCol="0" anchor="t"/>
          <a:lstStyle/>
          <a:p>
            <a:pPr indent="0" marL="0">
              <a:lnSpc>
                <a:spcPts val="2550"/>
              </a:lnSpc>
              <a:buNone/>
            </a:pPr>
            <a:r>
              <a:rPr lang="en-US" sz="1550" dirty="0">
                <a:solidFill>
                  <a:srgbClr val="383838"/>
                </a:solidFill>
                <a:latin typeface="DM Sans" pitchFamily="34" charset="0"/>
                <a:ea typeface="DM Sans" pitchFamily="34" charset="-122"/>
                <a:cs typeface="DM Sans" pitchFamily="34" charset="-120"/>
              </a:rPr>
              <a:t>Result in expensive repairs, flight delays, and potential loss of life.</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73311" y="712232"/>
            <a:ext cx="7540585" cy="724853"/>
          </a:xfrm>
          <a:prstGeom prst="rect">
            <a:avLst/>
          </a:prstGeom>
          <a:noFill/>
          <a:ln/>
        </p:spPr>
        <p:txBody>
          <a:bodyPr wrap="none" lIns="0" tIns="0" rIns="0" bIns="0" rtlCol="0" anchor="t"/>
          <a:lstStyle/>
          <a:p>
            <a:pPr indent="0" marL="0">
              <a:lnSpc>
                <a:spcPts val="5700"/>
              </a:lnSpc>
              <a:buNone/>
            </a:pPr>
            <a:r>
              <a:rPr lang="en-US" sz="4550" dirty="0">
                <a:solidFill>
                  <a:srgbClr val="020202"/>
                </a:solidFill>
                <a:latin typeface="PT Serif" pitchFamily="34" charset="0"/>
                <a:ea typeface="PT Serif" pitchFamily="34" charset="-122"/>
                <a:cs typeface="PT Serif" pitchFamily="34" charset="-120"/>
              </a:rPr>
              <a:t>Data Collection and Cleaning</a:t>
            </a:r>
            <a:endParaRPr lang="en-US" sz="4550" dirty="0"/>
          </a:p>
        </p:txBody>
      </p:sp>
      <p:sp>
        <p:nvSpPr>
          <p:cNvPr id="4" name="Text 1"/>
          <p:cNvSpPr/>
          <p:nvPr/>
        </p:nvSpPr>
        <p:spPr>
          <a:xfrm>
            <a:off x="773311" y="1768435"/>
            <a:ext cx="7597378" cy="1413986"/>
          </a:xfrm>
          <a:prstGeom prst="rect">
            <a:avLst/>
          </a:prstGeom>
          <a:noFill/>
          <a:ln/>
        </p:spPr>
        <p:txBody>
          <a:bodyPr wrap="square" lIns="0" tIns="0" rIns="0" bIns="0" rtlCol="0" anchor="t"/>
          <a:lstStyle/>
          <a:p>
            <a:pPr indent="0" marL="0">
              <a:lnSpc>
                <a:spcPts val="2750"/>
              </a:lnSpc>
              <a:buNone/>
            </a:pPr>
            <a:r>
              <a:rPr lang="en-US" sz="1700" dirty="0">
                <a:solidFill>
                  <a:srgbClr val="383838"/>
                </a:solidFill>
                <a:latin typeface="DM Sans" pitchFamily="34" charset="0"/>
                <a:ea typeface="DM Sans" pitchFamily="34" charset="-122"/>
                <a:cs typeface="DM Sans" pitchFamily="34" charset="-120"/>
              </a:rPr>
              <a:t>The dataset, obtained from a unified source, contains 25,429 records of bird strikes from January 2, 2000, to December 31, 2011. Data cleaning involved handling missing values, correcting data types, and creating new columns for analysis.</a:t>
            </a:r>
            <a:endParaRPr lang="en-US" sz="1700" dirty="0"/>
          </a:p>
        </p:txBody>
      </p:sp>
      <p:sp>
        <p:nvSpPr>
          <p:cNvPr id="5" name="Shape 2"/>
          <p:cNvSpPr/>
          <p:nvPr/>
        </p:nvSpPr>
        <p:spPr>
          <a:xfrm>
            <a:off x="773311" y="3679388"/>
            <a:ext cx="497086" cy="497086"/>
          </a:xfrm>
          <a:prstGeom prst="roundRect">
            <a:avLst>
              <a:gd name="adj" fmla="val 6667"/>
            </a:avLst>
          </a:prstGeom>
          <a:solidFill>
            <a:srgbClr val="F2EEEE"/>
          </a:solidFill>
          <a:ln/>
        </p:spPr>
      </p:sp>
      <p:sp>
        <p:nvSpPr>
          <p:cNvPr id="6" name="Text 3"/>
          <p:cNvSpPr/>
          <p:nvPr/>
        </p:nvSpPr>
        <p:spPr>
          <a:xfrm>
            <a:off x="929045" y="3753922"/>
            <a:ext cx="185499" cy="348020"/>
          </a:xfrm>
          <a:prstGeom prst="rect">
            <a:avLst/>
          </a:prstGeom>
          <a:noFill/>
          <a:ln/>
        </p:spPr>
        <p:txBody>
          <a:bodyPr wrap="none" lIns="0" tIns="0" rIns="0" bIns="0" rtlCol="0" anchor="t"/>
          <a:lstStyle/>
          <a:p>
            <a:pPr algn="ctr" indent="0" marL="0">
              <a:lnSpc>
                <a:spcPts val="2700"/>
              </a:lnSpc>
              <a:buNone/>
            </a:pPr>
            <a:r>
              <a:rPr lang="en-US" sz="2700" dirty="0">
                <a:solidFill>
                  <a:srgbClr val="383838"/>
                </a:solidFill>
                <a:latin typeface="PT Serif" pitchFamily="34" charset="0"/>
                <a:ea typeface="PT Serif" pitchFamily="34" charset="-122"/>
                <a:cs typeface="PT Serif" pitchFamily="34" charset="-120"/>
              </a:rPr>
              <a:t>1</a:t>
            </a:r>
            <a:endParaRPr lang="en-US" sz="2700" dirty="0"/>
          </a:p>
        </p:txBody>
      </p:sp>
      <p:sp>
        <p:nvSpPr>
          <p:cNvPr id="7" name="Text 4"/>
          <p:cNvSpPr/>
          <p:nvPr/>
        </p:nvSpPr>
        <p:spPr>
          <a:xfrm>
            <a:off x="1491258" y="3679388"/>
            <a:ext cx="2900005" cy="362545"/>
          </a:xfrm>
          <a:prstGeom prst="rect">
            <a:avLst/>
          </a:prstGeom>
          <a:noFill/>
          <a:ln/>
        </p:spPr>
        <p:txBody>
          <a:bodyPr wrap="none" lIns="0" tIns="0" rIns="0" bIns="0" rtlCol="0" anchor="t"/>
          <a:lstStyle/>
          <a:p>
            <a:pPr indent="0" marL="0">
              <a:lnSpc>
                <a:spcPts val="2850"/>
              </a:lnSpc>
              <a:buNone/>
            </a:pPr>
            <a:r>
              <a:rPr lang="en-US" sz="2250" dirty="0">
                <a:solidFill>
                  <a:srgbClr val="383838"/>
                </a:solidFill>
                <a:latin typeface="PT Serif" pitchFamily="34" charset="0"/>
                <a:ea typeface="PT Serif" pitchFamily="34" charset="-122"/>
                <a:cs typeface="PT Serif" pitchFamily="34" charset="-120"/>
              </a:rPr>
              <a:t>Data Source</a:t>
            </a:r>
            <a:endParaRPr lang="en-US" sz="2250" dirty="0"/>
          </a:p>
        </p:txBody>
      </p:sp>
      <p:sp>
        <p:nvSpPr>
          <p:cNvPr id="8" name="Text 5"/>
          <p:cNvSpPr/>
          <p:nvPr/>
        </p:nvSpPr>
        <p:spPr>
          <a:xfrm>
            <a:off x="1491258" y="4174450"/>
            <a:ext cx="6879431" cy="353497"/>
          </a:xfrm>
          <a:prstGeom prst="rect">
            <a:avLst/>
          </a:prstGeom>
          <a:noFill/>
          <a:ln/>
        </p:spPr>
        <p:txBody>
          <a:bodyPr wrap="none" lIns="0" tIns="0" rIns="0" bIns="0" rtlCol="0" anchor="t"/>
          <a:lstStyle/>
          <a:p>
            <a:pPr indent="0" marL="0">
              <a:lnSpc>
                <a:spcPts val="2750"/>
              </a:lnSpc>
              <a:buNone/>
            </a:pPr>
            <a:r>
              <a:rPr lang="en-US" sz="1700" dirty="0">
                <a:solidFill>
                  <a:srgbClr val="383838"/>
                </a:solidFill>
                <a:latin typeface="DM Sans" pitchFamily="34" charset="0"/>
                <a:ea typeface="DM Sans" pitchFamily="34" charset="-122"/>
                <a:cs typeface="DM Sans" pitchFamily="34" charset="-120"/>
              </a:rPr>
              <a:t>Unified mentor dataset with 25,429 records.</a:t>
            </a:r>
            <a:endParaRPr lang="en-US" sz="1700" dirty="0"/>
          </a:p>
        </p:txBody>
      </p:sp>
      <p:sp>
        <p:nvSpPr>
          <p:cNvPr id="9" name="Shape 6"/>
          <p:cNvSpPr/>
          <p:nvPr/>
        </p:nvSpPr>
        <p:spPr>
          <a:xfrm>
            <a:off x="773311" y="4997291"/>
            <a:ext cx="497086" cy="497086"/>
          </a:xfrm>
          <a:prstGeom prst="roundRect">
            <a:avLst>
              <a:gd name="adj" fmla="val 6667"/>
            </a:avLst>
          </a:prstGeom>
          <a:solidFill>
            <a:srgbClr val="F2EEEE"/>
          </a:solidFill>
          <a:ln/>
        </p:spPr>
      </p:sp>
      <p:sp>
        <p:nvSpPr>
          <p:cNvPr id="10" name="Text 7"/>
          <p:cNvSpPr/>
          <p:nvPr/>
        </p:nvSpPr>
        <p:spPr>
          <a:xfrm>
            <a:off x="929045" y="5071824"/>
            <a:ext cx="185499" cy="348020"/>
          </a:xfrm>
          <a:prstGeom prst="rect">
            <a:avLst/>
          </a:prstGeom>
          <a:noFill/>
          <a:ln/>
        </p:spPr>
        <p:txBody>
          <a:bodyPr wrap="none" lIns="0" tIns="0" rIns="0" bIns="0" rtlCol="0" anchor="t"/>
          <a:lstStyle/>
          <a:p>
            <a:pPr algn="ctr" indent="0" marL="0">
              <a:lnSpc>
                <a:spcPts val="2700"/>
              </a:lnSpc>
              <a:buNone/>
            </a:pPr>
            <a:r>
              <a:rPr lang="en-US" sz="2700" dirty="0">
                <a:solidFill>
                  <a:srgbClr val="383838"/>
                </a:solidFill>
                <a:latin typeface="PT Serif" pitchFamily="34" charset="0"/>
                <a:ea typeface="PT Serif" pitchFamily="34" charset="-122"/>
                <a:cs typeface="PT Serif" pitchFamily="34" charset="-120"/>
              </a:rPr>
              <a:t>2</a:t>
            </a:r>
            <a:endParaRPr lang="en-US" sz="2700" dirty="0"/>
          </a:p>
        </p:txBody>
      </p:sp>
      <p:sp>
        <p:nvSpPr>
          <p:cNvPr id="11" name="Text 8"/>
          <p:cNvSpPr/>
          <p:nvPr/>
        </p:nvSpPr>
        <p:spPr>
          <a:xfrm>
            <a:off x="1491258" y="4997291"/>
            <a:ext cx="2900005" cy="362545"/>
          </a:xfrm>
          <a:prstGeom prst="rect">
            <a:avLst/>
          </a:prstGeom>
          <a:noFill/>
          <a:ln/>
        </p:spPr>
        <p:txBody>
          <a:bodyPr wrap="none" lIns="0" tIns="0" rIns="0" bIns="0" rtlCol="0" anchor="t"/>
          <a:lstStyle/>
          <a:p>
            <a:pPr indent="0" marL="0">
              <a:lnSpc>
                <a:spcPts val="2850"/>
              </a:lnSpc>
              <a:buNone/>
            </a:pPr>
            <a:r>
              <a:rPr lang="en-US" sz="2250" dirty="0">
                <a:solidFill>
                  <a:srgbClr val="383838"/>
                </a:solidFill>
                <a:latin typeface="PT Serif" pitchFamily="34" charset="0"/>
                <a:ea typeface="PT Serif" pitchFamily="34" charset="-122"/>
                <a:cs typeface="PT Serif" pitchFamily="34" charset="-120"/>
              </a:rPr>
              <a:t>Data Cleaning</a:t>
            </a:r>
            <a:endParaRPr lang="en-US" sz="2250" dirty="0"/>
          </a:p>
        </p:txBody>
      </p:sp>
      <p:sp>
        <p:nvSpPr>
          <p:cNvPr id="12" name="Text 9"/>
          <p:cNvSpPr/>
          <p:nvPr/>
        </p:nvSpPr>
        <p:spPr>
          <a:xfrm>
            <a:off x="1491258" y="5492353"/>
            <a:ext cx="6879431" cy="706993"/>
          </a:xfrm>
          <a:prstGeom prst="rect">
            <a:avLst/>
          </a:prstGeom>
          <a:noFill/>
          <a:ln/>
        </p:spPr>
        <p:txBody>
          <a:bodyPr wrap="square" lIns="0" tIns="0" rIns="0" bIns="0" rtlCol="0" anchor="t"/>
          <a:lstStyle/>
          <a:p>
            <a:pPr indent="0" marL="0">
              <a:lnSpc>
                <a:spcPts val="2750"/>
              </a:lnSpc>
              <a:buNone/>
            </a:pPr>
            <a:r>
              <a:rPr lang="en-US" sz="1700" dirty="0">
                <a:solidFill>
                  <a:srgbClr val="383838"/>
                </a:solidFill>
                <a:latin typeface="DM Sans" pitchFamily="34" charset="0"/>
                <a:ea typeface="DM Sans" pitchFamily="34" charset="-122"/>
                <a:cs typeface="DM Sans" pitchFamily="34" charset="-120"/>
              </a:rPr>
              <a:t>Addressed missing values, corrected data types, and created new columns.</a:t>
            </a:r>
            <a:endParaRPr lang="en-US" sz="1700" dirty="0"/>
          </a:p>
        </p:txBody>
      </p:sp>
      <p:sp>
        <p:nvSpPr>
          <p:cNvPr id="13" name="Shape 10"/>
          <p:cNvSpPr/>
          <p:nvPr/>
        </p:nvSpPr>
        <p:spPr>
          <a:xfrm>
            <a:off x="773311" y="6668691"/>
            <a:ext cx="497086" cy="497086"/>
          </a:xfrm>
          <a:prstGeom prst="roundRect">
            <a:avLst>
              <a:gd name="adj" fmla="val 6667"/>
            </a:avLst>
          </a:prstGeom>
          <a:solidFill>
            <a:srgbClr val="F2EEEE"/>
          </a:solidFill>
          <a:ln/>
        </p:spPr>
      </p:sp>
      <p:sp>
        <p:nvSpPr>
          <p:cNvPr id="14" name="Text 11"/>
          <p:cNvSpPr/>
          <p:nvPr/>
        </p:nvSpPr>
        <p:spPr>
          <a:xfrm>
            <a:off x="929045" y="6743224"/>
            <a:ext cx="185499" cy="348020"/>
          </a:xfrm>
          <a:prstGeom prst="rect">
            <a:avLst/>
          </a:prstGeom>
          <a:noFill/>
          <a:ln/>
        </p:spPr>
        <p:txBody>
          <a:bodyPr wrap="none" lIns="0" tIns="0" rIns="0" bIns="0" rtlCol="0" anchor="t"/>
          <a:lstStyle/>
          <a:p>
            <a:pPr algn="ctr" indent="0" marL="0">
              <a:lnSpc>
                <a:spcPts val="2700"/>
              </a:lnSpc>
              <a:buNone/>
            </a:pPr>
            <a:r>
              <a:rPr lang="en-US" sz="2700" dirty="0">
                <a:solidFill>
                  <a:srgbClr val="383838"/>
                </a:solidFill>
                <a:latin typeface="PT Serif" pitchFamily="34" charset="0"/>
                <a:ea typeface="PT Serif" pitchFamily="34" charset="-122"/>
                <a:cs typeface="PT Serif" pitchFamily="34" charset="-120"/>
              </a:rPr>
              <a:t>3</a:t>
            </a:r>
            <a:endParaRPr lang="en-US" sz="2700" dirty="0"/>
          </a:p>
        </p:txBody>
      </p:sp>
      <p:sp>
        <p:nvSpPr>
          <p:cNvPr id="15" name="Text 12"/>
          <p:cNvSpPr/>
          <p:nvPr/>
        </p:nvSpPr>
        <p:spPr>
          <a:xfrm>
            <a:off x="1491258" y="6668691"/>
            <a:ext cx="2900005" cy="362545"/>
          </a:xfrm>
          <a:prstGeom prst="rect">
            <a:avLst/>
          </a:prstGeom>
          <a:noFill/>
          <a:ln/>
        </p:spPr>
        <p:txBody>
          <a:bodyPr wrap="none" lIns="0" tIns="0" rIns="0" bIns="0" rtlCol="0" anchor="t"/>
          <a:lstStyle/>
          <a:p>
            <a:pPr indent="0" marL="0">
              <a:lnSpc>
                <a:spcPts val="2850"/>
              </a:lnSpc>
              <a:buNone/>
            </a:pPr>
            <a:r>
              <a:rPr lang="en-US" sz="2250" dirty="0">
                <a:solidFill>
                  <a:srgbClr val="383838"/>
                </a:solidFill>
                <a:latin typeface="PT Serif" pitchFamily="34" charset="0"/>
                <a:ea typeface="PT Serif" pitchFamily="34" charset="-122"/>
                <a:cs typeface="PT Serif" pitchFamily="34" charset="-120"/>
              </a:rPr>
              <a:t>Data Enrichment</a:t>
            </a:r>
            <a:endParaRPr lang="en-US" sz="2250" dirty="0"/>
          </a:p>
        </p:txBody>
      </p:sp>
      <p:sp>
        <p:nvSpPr>
          <p:cNvPr id="16" name="Text 13"/>
          <p:cNvSpPr/>
          <p:nvPr/>
        </p:nvSpPr>
        <p:spPr>
          <a:xfrm>
            <a:off x="1491258" y="7163753"/>
            <a:ext cx="6879431" cy="353497"/>
          </a:xfrm>
          <a:prstGeom prst="rect">
            <a:avLst/>
          </a:prstGeom>
          <a:noFill/>
          <a:ln/>
        </p:spPr>
        <p:txBody>
          <a:bodyPr wrap="none" lIns="0" tIns="0" rIns="0" bIns="0" rtlCol="0" anchor="t"/>
          <a:lstStyle/>
          <a:p>
            <a:pPr indent="0" marL="0">
              <a:lnSpc>
                <a:spcPts val="2750"/>
              </a:lnSpc>
              <a:buNone/>
            </a:pPr>
            <a:r>
              <a:rPr lang="en-US" sz="1700" dirty="0">
                <a:solidFill>
                  <a:srgbClr val="383838"/>
                </a:solidFill>
                <a:latin typeface="DM Sans" pitchFamily="34" charset="0"/>
                <a:ea typeface="DM Sans" pitchFamily="34" charset="-122"/>
                <a:cs typeface="DM Sans" pitchFamily="34" charset="-120"/>
              </a:rPr>
              <a:t>Created columns for year, month, day, season, and region.</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72095" y="617696"/>
            <a:ext cx="4412933" cy="465653"/>
          </a:xfrm>
          <a:prstGeom prst="rect">
            <a:avLst/>
          </a:prstGeom>
          <a:noFill/>
          <a:ln/>
        </p:spPr>
        <p:txBody>
          <a:bodyPr wrap="none" lIns="0" tIns="0" rIns="0" bIns="0" rtlCol="0" anchor="t"/>
          <a:lstStyle/>
          <a:p>
            <a:pPr indent="0" marL="0">
              <a:lnSpc>
                <a:spcPts val="3650"/>
              </a:lnSpc>
              <a:buNone/>
            </a:pPr>
            <a:r>
              <a:rPr lang="en-US" sz="2900" dirty="0">
                <a:solidFill>
                  <a:srgbClr val="020202"/>
                </a:solidFill>
                <a:latin typeface="PT Serif" pitchFamily="34" charset="0"/>
                <a:ea typeface="PT Serif" pitchFamily="34" charset="-122"/>
                <a:cs typeface="PT Serif" pitchFamily="34" charset="-120"/>
              </a:rPr>
              <a:t>Key Insights from the Data</a:t>
            </a:r>
            <a:endParaRPr lang="en-US" sz="2900" dirty="0"/>
          </a:p>
        </p:txBody>
      </p:sp>
      <p:sp>
        <p:nvSpPr>
          <p:cNvPr id="3" name="Text 1"/>
          <p:cNvSpPr/>
          <p:nvPr/>
        </p:nvSpPr>
        <p:spPr>
          <a:xfrm>
            <a:off x="572095" y="1367195"/>
            <a:ext cx="13486209" cy="227052"/>
          </a:xfrm>
          <a:prstGeom prst="rect">
            <a:avLst/>
          </a:prstGeom>
          <a:noFill/>
          <a:ln/>
        </p:spPr>
        <p:txBody>
          <a:bodyPr wrap="none" lIns="0" tIns="0" rIns="0" bIns="0" rtlCol="0" anchor="t"/>
          <a:lstStyle/>
          <a:p>
            <a:pPr indent="0" marL="0">
              <a:lnSpc>
                <a:spcPts val="1750"/>
              </a:lnSpc>
              <a:buNone/>
            </a:pPr>
            <a:r>
              <a:rPr lang="en-US" sz="1100" dirty="0">
                <a:solidFill>
                  <a:srgbClr val="383838"/>
                </a:solidFill>
                <a:latin typeface="DM Sans" pitchFamily="34" charset="0"/>
                <a:ea typeface="DM Sans" pitchFamily="34" charset="-122"/>
                <a:cs typeface="DM Sans" pitchFamily="34" charset="-120"/>
              </a:rPr>
              <a:t>The average height of bird strikes is 799 feet, suggesting they occur during takeoff or landing. The maximum number of birds in a single strike was 942, with an average of 2.7 birds per strike.</a:t>
            </a:r>
            <a:endParaRPr lang="en-US" sz="1100" dirty="0"/>
          </a:p>
        </p:txBody>
      </p:sp>
      <p:sp>
        <p:nvSpPr>
          <p:cNvPr id="4" name="Text 2"/>
          <p:cNvSpPr/>
          <p:nvPr/>
        </p:nvSpPr>
        <p:spPr>
          <a:xfrm>
            <a:off x="572095" y="1895832"/>
            <a:ext cx="1862852" cy="232886"/>
          </a:xfrm>
          <a:prstGeom prst="rect">
            <a:avLst/>
          </a:prstGeom>
          <a:noFill/>
          <a:ln/>
        </p:spPr>
        <p:txBody>
          <a:bodyPr wrap="none" lIns="0" tIns="0" rIns="0" bIns="0" rtlCol="0" anchor="t"/>
          <a:lstStyle/>
          <a:p>
            <a:pPr indent="0" marL="0">
              <a:lnSpc>
                <a:spcPts val="1800"/>
              </a:lnSpc>
              <a:buNone/>
            </a:pPr>
            <a:r>
              <a:rPr lang="en-US" sz="1450" dirty="0">
                <a:solidFill>
                  <a:srgbClr val="020202"/>
                </a:solidFill>
                <a:latin typeface="PT Serif" pitchFamily="34" charset="0"/>
                <a:ea typeface="PT Serif" pitchFamily="34" charset="-122"/>
                <a:cs typeface="PT Serif" pitchFamily="34" charset="-120"/>
              </a:rPr>
              <a:t>Strike Altitude</a:t>
            </a:r>
            <a:endParaRPr lang="en-US" sz="1450" dirty="0"/>
          </a:p>
        </p:txBody>
      </p:sp>
      <p:sp>
        <p:nvSpPr>
          <p:cNvPr id="5" name="Text 3"/>
          <p:cNvSpPr/>
          <p:nvPr/>
        </p:nvSpPr>
        <p:spPr>
          <a:xfrm>
            <a:off x="572095" y="2270641"/>
            <a:ext cx="4264104" cy="227052"/>
          </a:xfrm>
          <a:prstGeom prst="rect">
            <a:avLst/>
          </a:prstGeom>
          <a:noFill/>
          <a:ln/>
        </p:spPr>
        <p:txBody>
          <a:bodyPr wrap="none" lIns="0" tIns="0" rIns="0" bIns="0" rtlCol="0" anchor="t"/>
          <a:lstStyle/>
          <a:p>
            <a:pPr indent="0" marL="0">
              <a:lnSpc>
                <a:spcPts val="1750"/>
              </a:lnSpc>
              <a:buNone/>
            </a:pPr>
            <a:r>
              <a:rPr lang="en-US" sz="1100" dirty="0">
                <a:solidFill>
                  <a:srgbClr val="383838"/>
                </a:solidFill>
                <a:latin typeface="DM Sans" pitchFamily="34" charset="0"/>
                <a:ea typeface="DM Sans" pitchFamily="34" charset="-122"/>
                <a:cs typeface="DM Sans" pitchFamily="34" charset="-120"/>
              </a:rPr>
              <a:t>Average height: 799 feet, indicating takeoff or landing phases.</a:t>
            </a:r>
            <a:endParaRPr lang="en-US" sz="1100" dirty="0"/>
          </a:p>
        </p:txBody>
      </p:sp>
      <p:sp>
        <p:nvSpPr>
          <p:cNvPr id="6" name="Text 4"/>
          <p:cNvSpPr/>
          <p:nvPr/>
        </p:nvSpPr>
        <p:spPr>
          <a:xfrm>
            <a:off x="5190053" y="1895832"/>
            <a:ext cx="1862852" cy="232886"/>
          </a:xfrm>
          <a:prstGeom prst="rect">
            <a:avLst/>
          </a:prstGeom>
          <a:noFill/>
          <a:ln/>
        </p:spPr>
        <p:txBody>
          <a:bodyPr wrap="none" lIns="0" tIns="0" rIns="0" bIns="0" rtlCol="0" anchor="t"/>
          <a:lstStyle/>
          <a:p>
            <a:pPr indent="0" marL="0">
              <a:lnSpc>
                <a:spcPts val="1800"/>
              </a:lnSpc>
              <a:buNone/>
            </a:pPr>
            <a:r>
              <a:rPr lang="en-US" sz="1450" dirty="0">
                <a:solidFill>
                  <a:srgbClr val="020202"/>
                </a:solidFill>
                <a:latin typeface="PT Serif" pitchFamily="34" charset="0"/>
                <a:ea typeface="PT Serif" pitchFamily="34" charset="-122"/>
                <a:cs typeface="PT Serif" pitchFamily="34" charset="-120"/>
              </a:rPr>
              <a:t>Strike Magnitude</a:t>
            </a:r>
            <a:endParaRPr lang="en-US" sz="1450" dirty="0"/>
          </a:p>
        </p:txBody>
      </p:sp>
      <p:sp>
        <p:nvSpPr>
          <p:cNvPr id="7" name="Text 5"/>
          <p:cNvSpPr/>
          <p:nvPr/>
        </p:nvSpPr>
        <p:spPr>
          <a:xfrm>
            <a:off x="5190053" y="2270641"/>
            <a:ext cx="4264104" cy="227052"/>
          </a:xfrm>
          <a:prstGeom prst="rect">
            <a:avLst/>
          </a:prstGeom>
          <a:noFill/>
          <a:ln/>
        </p:spPr>
        <p:txBody>
          <a:bodyPr wrap="none" lIns="0" tIns="0" rIns="0" bIns="0" rtlCol="0" anchor="t"/>
          <a:lstStyle/>
          <a:p>
            <a:pPr indent="0" marL="0">
              <a:lnSpc>
                <a:spcPts val="1750"/>
              </a:lnSpc>
              <a:buNone/>
            </a:pPr>
            <a:r>
              <a:rPr lang="en-US" sz="1100" dirty="0">
                <a:solidFill>
                  <a:srgbClr val="383838"/>
                </a:solidFill>
                <a:latin typeface="DM Sans" pitchFamily="34" charset="0"/>
                <a:ea typeface="DM Sans" pitchFamily="34" charset="-122"/>
                <a:cs typeface="DM Sans" pitchFamily="34" charset="-120"/>
              </a:rPr>
              <a:t>Maximum birds in a strike: 942, average: 2.7 birds.</a:t>
            </a:r>
            <a:endParaRPr lang="en-US" sz="1100" dirty="0"/>
          </a:p>
        </p:txBody>
      </p:sp>
      <p:sp>
        <p:nvSpPr>
          <p:cNvPr id="8" name="Text 6"/>
          <p:cNvSpPr/>
          <p:nvPr/>
        </p:nvSpPr>
        <p:spPr>
          <a:xfrm>
            <a:off x="9808012" y="1895832"/>
            <a:ext cx="1862852" cy="232886"/>
          </a:xfrm>
          <a:prstGeom prst="rect">
            <a:avLst/>
          </a:prstGeom>
          <a:noFill/>
          <a:ln/>
        </p:spPr>
        <p:txBody>
          <a:bodyPr wrap="none" lIns="0" tIns="0" rIns="0" bIns="0" rtlCol="0" anchor="t"/>
          <a:lstStyle/>
          <a:p>
            <a:pPr indent="0" marL="0">
              <a:lnSpc>
                <a:spcPts val="1800"/>
              </a:lnSpc>
              <a:buNone/>
            </a:pPr>
            <a:r>
              <a:rPr lang="en-US" sz="1450" dirty="0">
                <a:solidFill>
                  <a:srgbClr val="020202"/>
                </a:solidFill>
                <a:latin typeface="PT Serif" pitchFamily="34" charset="0"/>
                <a:ea typeface="PT Serif" pitchFamily="34" charset="-122"/>
                <a:cs typeface="PT Serif" pitchFamily="34" charset="-120"/>
              </a:rPr>
              <a:t>Cost of Strikes</a:t>
            </a:r>
            <a:endParaRPr lang="en-US" sz="1450" dirty="0"/>
          </a:p>
        </p:txBody>
      </p:sp>
      <p:sp>
        <p:nvSpPr>
          <p:cNvPr id="9" name="Text 7"/>
          <p:cNvSpPr/>
          <p:nvPr/>
        </p:nvSpPr>
        <p:spPr>
          <a:xfrm>
            <a:off x="9808012" y="2270641"/>
            <a:ext cx="4264104" cy="227052"/>
          </a:xfrm>
          <a:prstGeom prst="rect">
            <a:avLst/>
          </a:prstGeom>
          <a:noFill/>
          <a:ln/>
        </p:spPr>
        <p:txBody>
          <a:bodyPr wrap="none" lIns="0" tIns="0" rIns="0" bIns="0" rtlCol="0" anchor="t"/>
          <a:lstStyle/>
          <a:p>
            <a:pPr indent="0" marL="0">
              <a:lnSpc>
                <a:spcPts val="1750"/>
              </a:lnSpc>
              <a:buNone/>
            </a:pPr>
            <a:r>
              <a:rPr lang="en-US" sz="1100" dirty="0">
                <a:solidFill>
                  <a:srgbClr val="383838"/>
                </a:solidFill>
                <a:latin typeface="DM Sans" pitchFamily="34" charset="0"/>
                <a:ea typeface="DM Sans" pitchFamily="34" charset="-122"/>
                <a:cs typeface="DM Sans" pitchFamily="34" charset="-120"/>
              </a:rPr>
              <a:t>Cost range: $0 - $12,397,750, with a mean of $5,566 per strike.</a:t>
            </a:r>
            <a:endParaRPr lang="en-US" sz="1100" dirty="0"/>
          </a:p>
        </p:txBody>
      </p:sp>
      <p:pic>
        <p:nvPicPr>
          <p:cNvPr id="10" name="Image 0" descr="preencoded.png">    </p:cNvPr>
          <p:cNvPicPr>
            <a:picLocks noChangeAspect="1"/>
          </p:cNvPicPr>
          <p:nvPr/>
        </p:nvPicPr>
        <p:blipFill>
          <a:blip r:embed="rId1"/>
          <a:stretch>
            <a:fillRect/>
          </a:stretch>
        </p:blipFill>
        <p:spPr>
          <a:xfrm>
            <a:off x="572095" y="2784991"/>
            <a:ext cx="6742033" cy="482679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669262"/>
          </a:xfrm>
          <a:prstGeom prst="rect">
            <a:avLst/>
          </a:prstGeom>
        </p:spPr>
      </p:pic>
      <p:pic>
        <p:nvPicPr>
          <p:cNvPr id="3" name="Image 1" descr="preencoded.png">    </p:cNvPr>
          <p:cNvPicPr>
            <a:picLocks noChangeAspect="1"/>
          </p:cNvPicPr>
          <p:nvPr/>
        </p:nvPicPr>
        <p:blipFill>
          <a:blip r:embed="rId2"/>
          <a:stretch>
            <a:fillRect/>
          </a:stretch>
        </p:blipFill>
        <p:spPr>
          <a:xfrm>
            <a:off x="3979069" y="266819"/>
            <a:ext cx="6672143" cy="2135624"/>
          </a:xfrm>
          <a:prstGeom prst="rect">
            <a:avLst/>
          </a:prstGeom>
        </p:spPr>
      </p:pic>
      <p:sp>
        <p:nvSpPr>
          <p:cNvPr id="4" name="Text 0"/>
          <p:cNvSpPr/>
          <p:nvPr/>
        </p:nvSpPr>
        <p:spPr>
          <a:xfrm>
            <a:off x="747355" y="3256478"/>
            <a:ext cx="7539990" cy="700683"/>
          </a:xfrm>
          <a:prstGeom prst="rect">
            <a:avLst/>
          </a:prstGeom>
          <a:noFill/>
          <a:ln/>
        </p:spPr>
        <p:txBody>
          <a:bodyPr wrap="none" lIns="0" tIns="0" rIns="0" bIns="0" rtlCol="0" anchor="t"/>
          <a:lstStyle/>
          <a:p>
            <a:pPr indent="0" marL="0">
              <a:lnSpc>
                <a:spcPts val="5500"/>
              </a:lnSpc>
              <a:buNone/>
            </a:pPr>
            <a:r>
              <a:rPr lang="en-US" sz="4400" dirty="0">
                <a:solidFill>
                  <a:srgbClr val="020202"/>
                </a:solidFill>
                <a:latin typeface="PT Serif" pitchFamily="34" charset="0"/>
                <a:ea typeface="PT Serif" pitchFamily="34" charset="-122"/>
                <a:cs typeface="PT Serif" pitchFamily="34" charset="-120"/>
              </a:rPr>
              <a:t>Temporal and Spatial Patterns</a:t>
            </a:r>
            <a:endParaRPr lang="en-US" sz="4400" dirty="0"/>
          </a:p>
        </p:txBody>
      </p:sp>
      <p:sp>
        <p:nvSpPr>
          <p:cNvPr id="5" name="Text 1"/>
          <p:cNvSpPr/>
          <p:nvPr/>
        </p:nvSpPr>
        <p:spPr>
          <a:xfrm>
            <a:off x="747355" y="4277439"/>
            <a:ext cx="13135689" cy="683419"/>
          </a:xfrm>
          <a:prstGeom prst="rect">
            <a:avLst/>
          </a:prstGeom>
          <a:noFill/>
          <a:ln/>
        </p:spPr>
        <p:txBody>
          <a:bodyPr wrap="square" lIns="0" tIns="0" rIns="0" bIns="0" rtlCol="0" anchor="t"/>
          <a:lstStyle/>
          <a:p>
            <a:pPr indent="0" marL="0">
              <a:lnSpc>
                <a:spcPts val="2650"/>
              </a:lnSpc>
              <a:buNone/>
            </a:pPr>
            <a:r>
              <a:rPr lang="en-US" sz="1650" dirty="0">
                <a:solidFill>
                  <a:srgbClr val="383838"/>
                </a:solidFill>
                <a:latin typeface="DM Sans" pitchFamily="34" charset="0"/>
                <a:ea typeface="DM Sans" pitchFamily="34" charset="-122"/>
                <a:cs typeface="DM Sans" pitchFamily="34" charset="-120"/>
              </a:rPr>
              <a:t>2010 recorded the highest number of bird strikes. California had the most strikes among states, and the summer season saw the highest frequency.</a:t>
            </a:r>
            <a:endParaRPr lang="en-US" sz="1650" dirty="0"/>
          </a:p>
        </p:txBody>
      </p:sp>
      <p:sp>
        <p:nvSpPr>
          <p:cNvPr id="6" name="Shape 2"/>
          <p:cNvSpPr/>
          <p:nvPr/>
        </p:nvSpPr>
        <p:spPr>
          <a:xfrm>
            <a:off x="747355" y="5521285"/>
            <a:ext cx="13135689" cy="30480"/>
          </a:xfrm>
          <a:prstGeom prst="roundRect">
            <a:avLst>
              <a:gd name="adj" fmla="val 105091"/>
            </a:avLst>
          </a:prstGeom>
          <a:solidFill>
            <a:srgbClr val="D8D4D4"/>
          </a:solidFill>
          <a:ln/>
        </p:spPr>
      </p:sp>
      <p:sp>
        <p:nvSpPr>
          <p:cNvPr id="7" name="Shape 3"/>
          <p:cNvSpPr/>
          <p:nvPr/>
        </p:nvSpPr>
        <p:spPr>
          <a:xfrm>
            <a:off x="2850118" y="5521226"/>
            <a:ext cx="30480" cy="747355"/>
          </a:xfrm>
          <a:prstGeom prst="roundRect">
            <a:avLst>
              <a:gd name="adj" fmla="val 105091"/>
            </a:avLst>
          </a:prstGeom>
          <a:solidFill>
            <a:srgbClr val="D8D4D4"/>
          </a:solidFill>
          <a:ln/>
        </p:spPr>
      </p:sp>
      <p:sp>
        <p:nvSpPr>
          <p:cNvPr id="8" name="Shape 4"/>
          <p:cNvSpPr/>
          <p:nvPr/>
        </p:nvSpPr>
        <p:spPr>
          <a:xfrm>
            <a:off x="2625209" y="5281077"/>
            <a:ext cx="480417" cy="480417"/>
          </a:xfrm>
          <a:prstGeom prst="roundRect">
            <a:avLst>
              <a:gd name="adj" fmla="val 6667"/>
            </a:avLst>
          </a:prstGeom>
          <a:solidFill>
            <a:srgbClr val="F2EEEE"/>
          </a:solidFill>
          <a:ln/>
        </p:spPr>
      </p:sp>
      <p:sp>
        <p:nvSpPr>
          <p:cNvPr id="9" name="Text 5"/>
          <p:cNvSpPr/>
          <p:nvPr/>
        </p:nvSpPr>
        <p:spPr>
          <a:xfrm>
            <a:off x="2775704" y="5353110"/>
            <a:ext cx="179308" cy="336352"/>
          </a:xfrm>
          <a:prstGeom prst="rect">
            <a:avLst/>
          </a:prstGeom>
          <a:noFill/>
          <a:ln/>
        </p:spPr>
        <p:txBody>
          <a:bodyPr wrap="none" lIns="0" tIns="0" rIns="0" bIns="0" rtlCol="0" anchor="t"/>
          <a:lstStyle/>
          <a:p>
            <a:pPr algn="ctr" indent="0" marL="0">
              <a:lnSpc>
                <a:spcPts val="2600"/>
              </a:lnSpc>
              <a:buNone/>
            </a:pPr>
            <a:r>
              <a:rPr lang="en-US" sz="2600" dirty="0">
                <a:solidFill>
                  <a:srgbClr val="383838"/>
                </a:solidFill>
                <a:latin typeface="PT Serif" pitchFamily="34" charset="0"/>
                <a:ea typeface="PT Serif" pitchFamily="34" charset="-122"/>
                <a:cs typeface="PT Serif" pitchFamily="34" charset="-120"/>
              </a:rPr>
              <a:t>1</a:t>
            </a:r>
            <a:endParaRPr lang="en-US" sz="2600" dirty="0"/>
          </a:p>
        </p:txBody>
      </p:sp>
      <p:sp>
        <p:nvSpPr>
          <p:cNvPr id="10" name="Text 6"/>
          <p:cNvSpPr/>
          <p:nvPr/>
        </p:nvSpPr>
        <p:spPr>
          <a:xfrm>
            <a:off x="1464112" y="6482120"/>
            <a:ext cx="2802731" cy="350282"/>
          </a:xfrm>
          <a:prstGeom prst="rect">
            <a:avLst/>
          </a:prstGeom>
          <a:noFill/>
          <a:ln/>
        </p:spPr>
        <p:txBody>
          <a:bodyPr wrap="none" lIns="0" tIns="0" rIns="0" bIns="0" rtlCol="0" anchor="t"/>
          <a:lstStyle/>
          <a:p>
            <a:pPr algn="ctr" indent="0" marL="0">
              <a:lnSpc>
                <a:spcPts val="2750"/>
              </a:lnSpc>
              <a:buNone/>
            </a:pPr>
            <a:r>
              <a:rPr lang="en-US" sz="2200" dirty="0">
                <a:solidFill>
                  <a:srgbClr val="383838"/>
                </a:solidFill>
                <a:latin typeface="PT Serif" pitchFamily="34" charset="0"/>
                <a:ea typeface="PT Serif" pitchFamily="34" charset="-122"/>
                <a:cs typeface="PT Serif" pitchFamily="34" charset="-120"/>
              </a:rPr>
              <a:t>2010</a:t>
            </a:r>
            <a:endParaRPr lang="en-US" sz="2200" dirty="0"/>
          </a:p>
        </p:txBody>
      </p:sp>
      <p:sp>
        <p:nvSpPr>
          <p:cNvPr id="11" name="Text 7"/>
          <p:cNvSpPr/>
          <p:nvPr/>
        </p:nvSpPr>
        <p:spPr>
          <a:xfrm>
            <a:off x="960834" y="6960513"/>
            <a:ext cx="3809286" cy="683419"/>
          </a:xfrm>
          <a:prstGeom prst="rect">
            <a:avLst/>
          </a:prstGeom>
          <a:noFill/>
          <a:ln/>
        </p:spPr>
        <p:txBody>
          <a:bodyPr wrap="square" lIns="0" tIns="0" rIns="0" bIns="0" rtlCol="0" anchor="t"/>
          <a:lstStyle/>
          <a:p>
            <a:pPr algn="ctr" indent="0" marL="0">
              <a:lnSpc>
                <a:spcPts val="2650"/>
              </a:lnSpc>
              <a:buNone/>
            </a:pPr>
            <a:r>
              <a:rPr lang="en-US" sz="1650" dirty="0">
                <a:solidFill>
                  <a:srgbClr val="383838"/>
                </a:solidFill>
                <a:latin typeface="DM Sans" pitchFamily="34" charset="0"/>
                <a:ea typeface="DM Sans" pitchFamily="34" charset="-122"/>
                <a:cs typeface="DM Sans" pitchFamily="34" charset="-120"/>
              </a:rPr>
              <a:t>Year with the highest recorded bird strikes.</a:t>
            </a:r>
            <a:endParaRPr lang="en-US" sz="1650" dirty="0"/>
          </a:p>
        </p:txBody>
      </p:sp>
      <p:sp>
        <p:nvSpPr>
          <p:cNvPr id="12" name="Shape 8"/>
          <p:cNvSpPr/>
          <p:nvPr/>
        </p:nvSpPr>
        <p:spPr>
          <a:xfrm>
            <a:off x="7299841" y="5521226"/>
            <a:ext cx="30480" cy="747355"/>
          </a:xfrm>
          <a:prstGeom prst="roundRect">
            <a:avLst>
              <a:gd name="adj" fmla="val 105091"/>
            </a:avLst>
          </a:prstGeom>
          <a:solidFill>
            <a:srgbClr val="D8D4D4"/>
          </a:solidFill>
          <a:ln/>
        </p:spPr>
      </p:sp>
      <p:sp>
        <p:nvSpPr>
          <p:cNvPr id="13" name="Shape 9"/>
          <p:cNvSpPr/>
          <p:nvPr/>
        </p:nvSpPr>
        <p:spPr>
          <a:xfrm>
            <a:off x="7074932" y="5281077"/>
            <a:ext cx="480417" cy="480417"/>
          </a:xfrm>
          <a:prstGeom prst="roundRect">
            <a:avLst>
              <a:gd name="adj" fmla="val 6667"/>
            </a:avLst>
          </a:prstGeom>
          <a:solidFill>
            <a:srgbClr val="F2EEEE"/>
          </a:solidFill>
          <a:ln/>
        </p:spPr>
      </p:sp>
      <p:sp>
        <p:nvSpPr>
          <p:cNvPr id="14" name="Text 10"/>
          <p:cNvSpPr/>
          <p:nvPr/>
        </p:nvSpPr>
        <p:spPr>
          <a:xfrm>
            <a:off x="7225427" y="5353110"/>
            <a:ext cx="179308" cy="336352"/>
          </a:xfrm>
          <a:prstGeom prst="rect">
            <a:avLst/>
          </a:prstGeom>
          <a:noFill/>
          <a:ln/>
        </p:spPr>
        <p:txBody>
          <a:bodyPr wrap="none" lIns="0" tIns="0" rIns="0" bIns="0" rtlCol="0" anchor="t"/>
          <a:lstStyle/>
          <a:p>
            <a:pPr algn="ctr" indent="0" marL="0">
              <a:lnSpc>
                <a:spcPts val="2600"/>
              </a:lnSpc>
              <a:buNone/>
            </a:pPr>
            <a:r>
              <a:rPr lang="en-US" sz="2600" dirty="0">
                <a:solidFill>
                  <a:srgbClr val="383838"/>
                </a:solidFill>
                <a:latin typeface="PT Serif" pitchFamily="34" charset="0"/>
                <a:ea typeface="PT Serif" pitchFamily="34" charset="-122"/>
                <a:cs typeface="PT Serif" pitchFamily="34" charset="-120"/>
              </a:rPr>
              <a:t>2</a:t>
            </a:r>
            <a:endParaRPr lang="en-US" sz="2600" dirty="0"/>
          </a:p>
        </p:txBody>
      </p:sp>
      <p:sp>
        <p:nvSpPr>
          <p:cNvPr id="15" name="Text 11"/>
          <p:cNvSpPr/>
          <p:nvPr/>
        </p:nvSpPr>
        <p:spPr>
          <a:xfrm>
            <a:off x="5913834" y="6482120"/>
            <a:ext cx="2802731" cy="350282"/>
          </a:xfrm>
          <a:prstGeom prst="rect">
            <a:avLst/>
          </a:prstGeom>
          <a:noFill/>
          <a:ln/>
        </p:spPr>
        <p:txBody>
          <a:bodyPr wrap="none" lIns="0" tIns="0" rIns="0" bIns="0" rtlCol="0" anchor="t"/>
          <a:lstStyle/>
          <a:p>
            <a:pPr algn="ctr" indent="0" marL="0">
              <a:lnSpc>
                <a:spcPts val="2750"/>
              </a:lnSpc>
              <a:buNone/>
            </a:pPr>
            <a:r>
              <a:rPr lang="en-US" sz="2200" dirty="0">
                <a:solidFill>
                  <a:srgbClr val="383838"/>
                </a:solidFill>
                <a:latin typeface="PT Serif" pitchFamily="34" charset="0"/>
                <a:ea typeface="PT Serif" pitchFamily="34" charset="-122"/>
                <a:cs typeface="PT Serif" pitchFamily="34" charset="-120"/>
              </a:rPr>
              <a:t>California</a:t>
            </a:r>
            <a:endParaRPr lang="en-US" sz="2200" dirty="0"/>
          </a:p>
        </p:txBody>
      </p:sp>
      <p:sp>
        <p:nvSpPr>
          <p:cNvPr id="16" name="Text 12"/>
          <p:cNvSpPr/>
          <p:nvPr/>
        </p:nvSpPr>
        <p:spPr>
          <a:xfrm>
            <a:off x="5410557" y="6960513"/>
            <a:ext cx="3809286" cy="683419"/>
          </a:xfrm>
          <a:prstGeom prst="rect">
            <a:avLst/>
          </a:prstGeom>
          <a:noFill/>
          <a:ln/>
        </p:spPr>
        <p:txBody>
          <a:bodyPr wrap="square" lIns="0" tIns="0" rIns="0" bIns="0" rtlCol="0" anchor="t"/>
          <a:lstStyle/>
          <a:p>
            <a:pPr algn="ctr" indent="0" marL="0">
              <a:lnSpc>
                <a:spcPts val="2650"/>
              </a:lnSpc>
              <a:buNone/>
            </a:pPr>
            <a:r>
              <a:rPr lang="en-US" sz="1650" dirty="0">
                <a:solidFill>
                  <a:srgbClr val="383838"/>
                </a:solidFill>
                <a:latin typeface="DM Sans" pitchFamily="34" charset="0"/>
                <a:ea typeface="DM Sans" pitchFamily="34" charset="-122"/>
                <a:cs typeface="DM Sans" pitchFamily="34" charset="-120"/>
              </a:rPr>
              <a:t>State with the most bird strike incidents.</a:t>
            </a:r>
            <a:endParaRPr lang="en-US" sz="1650" dirty="0"/>
          </a:p>
        </p:txBody>
      </p:sp>
      <p:sp>
        <p:nvSpPr>
          <p:cNvPr id="17" name="Shape 13"/>
          <p:cNvSpPr/>
          <p:nvPr/>
        </p:nvSpPr>
        <p:spPr>
          <a:xfrm>
            <a:off x="11749564" y="5521226"/>
            <a:ext cx="30480" cy="747355"/>
          </a:xfrm>
          <a:prstGeom prst="roundRect">
            <a:avLst>
              <a:gd name="adj" fmla="val 105091"/>
            </a:avLst>
          </a:prstGeom>
          <a:solidFill>
            <a:srgbClr val="D8D4D4"/>
          </a:solidFill>
          <a:ln/>
        </p:spPr>
      </p:sp>
      <p:sp>
        <p:nvSpPr>
          <p:cNvPr id="18" name="Shape 14"/>
          <p:cNvSpPr/>
          <p:nvPr/>
        </p:nvSpPr>
        <p:spPr>
          <a:xfrm>
            <a:off x="11524655" y="5281077"/>
            <a:ext cx="480417" cy="480417"/>
          </a:xfrm>
          <a:prstGeom prst="roundRect">
            <a:avLst>
              <a:gd name="adj" fmla="val 6667"/>
            </a:avLst>
          </a:prstGeom>
          <a:solidFill>
            <a:srgbClr val="F2EEEE"/>
          </a:solidFill>
          <a:ln/>
        </p:spPr>
      </p:sp>
      <p:sp>
        <p:nvSpPr>
          <p:cNvPr id="19" name="Text 15"/>
          <p:cNvSpPr/>
          <p:nvPr/>
        </p:nvSpPr>
        <p:spPr>
          <a:xfrm>
            <a:off x="11675150" y="5353110"/>
            <a:ext cx="179308" cy="336352"/>
          </a:xfrm>
          <a:prstGeom prst="rect">
            <a:avLst/>
          </a:prstGeom>
          <a:noFill/>
          <a:ln/>
        </p:spPr>
        <p:txBody>
          <a:bodyPr wrap="none" lIns="0" tIns="0" rIns="0" bIns="0" rtlCol="0" anchor="t"/>
          <a:lstStyle/>
          <a:p>
            <a:pPr algn="ctr" indent="0" marL="0">
              <a:lnSpc>
                <a:spcPts val="2600"/>
              </a:lnSpc>
              <a:buNone/>
            </a:pPr>
            <a:r>
              <a:rPr lang="en-US" sz="2600" dirty="0">
                <a:solidFill>
                  <a:srgbClr val="383838"/>
                </a:solidFill>
                <a:latin typeface="PT Serif" pitchFamily="34" charset="0"/>
                <a:ea typeface="PT Serif" pitchFamily="34" charset="-122"/>
                <a:cs typeface="PT Serif" pitchFamily="34" charset="-120"/>
              </a:rPr>
              <a:t>3</a:t>
            </a:r>
            <a:endParaRPr lang="en-US" sz="2600" dirty="0"/>
          </a:p>
        </p:txBody>
      </p:sp>
      <p:sp>
        <p:nvSpPr>
          <p:cNvPr id="20" name="Text 16"/>
          <p:cNvSpPr/>
          <p:nvPr/>
        </p:nvSpPr>
        <p:spPr>
          <a:xfrm>
            <a:off x="10363557" y="6482120"/>
            <a:ext cx="2802731" cy="350282"/>
          </a:xfrm>
          <a:prstGeom prst="rect">
            <a:avLst/>
          </a:prstGeom>
          <a:noFill/>
          <a:ln/>
        </p:spPr>
        <p:txBody>
          <a:bodyPr wrap="none" lIns="0" tIns="0" rIns="0" bIns="0" rtlCol="0" anchor="t"/>
          <a:lstStyle/>
          <a:p>
            <a:pPr algn="ctr" indent="0" marL="0">
              <a:lnSpc>
                <a:spcPts val="2750"/>
              </a:lnSpc>
              <a:buNone/>
            </a:pPr>
            <a:r>
              <a:rPr lang="en-US" sz="2200" dirty="0">
                <a:solidFill>
                  <a:srgbClr val="383838"/>
                </a:solidFill>
                <a:latin typeface="PT Serif" pitchFamily="34" charset="0"/>
                <a:ea typeface="PT Serif" pitchFamily="34" charset="-122"/>
                <a:cs typeface="PT Serif" pitchFamily="34" charset="-120"/>
              </a:rPr>
              <a:t>Summer</a:t>
            </a:r>
            <a:endParaRPr lang="en-US" sz="2200" dirty="0"/>
          </a:p>
        </p:txBody>
      </p:sp>
      <p:sp>
        <p:nvSpPr>
          <p:cNvPr id="21" name="Text 17"/>
          <p:cNvSpPr/>
          <p:nvPr/>
        </p:nvSpPr>
        <p:spPr>
          <a:xfrm>
            <a:off x="9860280" y="6960513"/>
            <a:ext cx="3809286" cy="683419"/>
          </a:xfrm>
          <a:prstGeom prst="rect">
            <a:avLst/>
          </a:prstGeom>
          <a:noFill/>
          <a:ln/>
        </p:spPr>
        <p:txBody>
          <a:bodyPr wrap="square" lIns="0" tIns="0" rIns="0" bIns="0" rtlCol="0" anchor="t"/>
          <a:lstStyle/>
          <a:p>
            <a:pPr algn="ctr" indent="0" marL="0">
              <a:lnSpc>
                <a:spcPts val="2650"/>
              </a:lnSpc>
              <a:buNone/>
            </a:pPr>
            <a:r>
              <a:rPr lang="en-US" sz="1650" dirty="0">
                <a:solidFill>
                  <a:srgbClr val="383838"/>
                </a:solidFill>
                <a:latin typeface="DM Sans" pitchFamily="34" charset="0"/>
                <a:ea typeface="DM Sans" pitchFamily="34" charset="-122"/>
                <a:cs typeface="DM Sans" pitchFamily="34" charset="-120"/>
              </a:rPr>
              <a:t>Season with the highest frequency of bird strikes.</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502140" y="594360"/>
            <a:ext cx="4770120" cy="7040880"/>
          </a:xfrm>
          <a:prstGeom prst="rect">
            <a:avLst/>
          </a:prstGeom>
        </p:spPr>
      </p:pic>
      <p:sp>
        <p:nvSpPr>
          <p:cNvPr id="4" name="Text 0"/>
          <p:cNvSpPr/>
          <p:nvPr/>
        </p:nvSpPr>
        <p:spPr>
          <a:xfrm>
            <a:off x="716280" y="563523"/>
            <a:ext cx="6795254" cy="671512"/>
          </a:xfrm>
          <a:prstGeom prst="rect">
            <a:avLst/>
          </a:prstGeom>
          <a:noFill/>
          <a:ln/>
        </p:spPr>
        <p:txBody>
          <a:bodyPr wrap="none" lIns="0" tIns="0" rIns="0" bIns="0" rtlCol="0" anchor="t"/>
          <a:lstStyle/>
          <a:p>
            <a:pPr indent="0" marL="0">
              <a:lnSpc>
                <a:spcPts val="5250"/>
              </a:lnSpc>
              <a:buNone/>
            </a:pPr>
            <a:r>
              <a:rPr lang="en-US" sz="4200" dirty="0">
                <a:solidFill>
                  <a:srgbClr val="020202"/>
                </a:solidFill>
                <a:latin typeface="PT Serif" pitchFamily="34" charset="0"/>
                <a:ea typeface="PT Serif" pitchFamily="34" charset="-122"/>
                <a:cs typeface="PT Serif" pitchFamily="34" charset="-120"/>
              </a:rPr>
              <a:t>Impact and Species Involved</a:t>
            </a:r>
            <a:endParaRPr lang="en-US" sz="4200" dirty="0"/>
          </a:p>
        </p:txBody>
      </p:sp>
      <p:sp>
        <p:nvSpPr>
          <p:cNvPr id="5" name="Text 1"/>
          <p:cNvSpPr/>
          <p:nvPr/>
        </p:nvSpPr>
        <p:spPr>
          <a:xfrm>
            <a:off x="716280" y="1541978"/>
            <a:ext cx="7711440" cy="982266"/>
          </a:xfrm>
          <a:prstGeom prst="rect">
            <a:avLst/>
          </a:prstGeom>
          <a:noFill/>
          <a:ln/>
        </p:spPr>
        <p:txBody>
          <a:bodyPr wrap="square" lIns="0" tIns="0" rIns="0" bIns="0" rtlCol="0" anchor="t"/>
          <a:lstStyle/>
          <a:p>
            <a:pPr indent="0" marL="0">
              <a:lnSpc>
                <a:spcPts val="2550"/>
              </a:lnSpc>
              <a:buNone/>
            </a:pPr>
            <a:r>
              <a:rPr lang="en-US" sz="1600" dirty="0">
                <a:solidFill>
                  <a:srgbClr val="383838"/>
                </a:solidFill>
                <a:latin typeface="DM Sans" pitchFamily="34" charset="0"/>
                <a:ea typeface="DM Sans" pitchFamily="34" charset="-122"/>
                <a:cs typeface="DM Sans" pitchFamily="34" charset="-120"/>
              </a:rPr>
              <a:t>Most strikes didn't significantly impact flights, but some led to precautionary landings or aborted takeoffs. Canada geese and white-tailed deer caused notable damage.</a:t>
            </a:r>
            <a:endParaRPr lang="en-US" sz="1600" dirty="0"/>
          </a:p>
        </p:txBody>
      </p:sp>
      <p:pic>
        <p:nvPicPr>
          <p:cNvPr id="6" name="Image 2" descr="preencoded.png">    </p:cNvPr>
          <p:cNvPicPr>
            <a:picLocks noChangeAspect="1"/>
          </p:cNvPicPr>
          <p:nvPr/>
        </p:nvPicPr>
        <p:blipFill>
          <a:blip r:embed="rId3"/>
          <a:stretch>
            <a:fillRect/>
          </a:stretch>
        </p:blipFill>
        <p:spPr>
          <a:xfrm>
            <a:off x="716280" y="2754392"/>
            <a:ext cx="1023223" cy="1637228"/>
          </a:xfrm>
          <a:prstGeom prst="rect">
            <a:avLst/>
          </a:prstGeom>
        </p:spPr>
      </p:pic>
      <p:sp>
        <p:nvSpPr>
          <p:cNvPr id="7" name="Text 2"/>
          <p:cNvSpPr/>
          <p:nvPr/>
        </p:nvSpPr>
        <p:spPr>
          <a:xfrm>
            <a:off x="2046446" y="2958941"/>
            <a:ext cx="2686169" cy="335756"/>
          </a:xfrm>
          <a:prstGeom prst="rect">
            <a:avLst/>
          </a:prstGeom>
          <a:noFill/>
          <a:ln/>
        </p:spPr>
        <p:txBody>
          <a:bodyPr wrap="none" lIns="0" tIns="0" rIns="0" bIns="0" rtlCol="0" anchor="t"/>
          <a:lstStyle/>
          <a:p>
            <a:pPr algn="l" indent="0" marL="0">
              <a:lnSpc>
                <a:spcPts val="2600"/>
              </a:lnSpc>
              <a:buNone/>
            </a:pPr>
            <a:r>
              <a:rPr lang="en-US" sz="2100" dirty="0">
                <a:solidFill>
                  <a:srgbClr val="383838"/>
                </a:solidFill>
                <a:latin typeface="PT Serif" pitchFamily="34" charset="0"/>
                <a:ea typeface="PT Serif" pitchFamily="34" charset="-122"/>
                <a:cs typeface="PT Serif" pitchFamily="34" charset="-120"/>
              </a:rPr>
              <a:t>Minimal Impact</a:t>
            </a:r>
            <a:endParaRPr lang="en-US" sz="2100" dirty="0"/>
          </a:p>
        </p:txBody>
      </p:sp>
      <p:sp>
        <p:nvSpPr>
          <p:cNvPr id="8" name="Text 3"/>
          <p:cNvSpPr/>
          <p:nvPr/>
        </p:nvSpPr>
        <p:spPr>
          <a:xfrm>
            <a:off x="2046446" y="3417451"/>
            <a:ext cx="6381274" cy="327422"/>
          </a:xfrm>
          <a:prstGeom prst="rect">
            <a:avLst/>
          </a:prstGeom>
          <a:noFill/>
          <a:ln/>
        </p:spPr>
        <p:txBody>
          <a:bodyPr wrap="none" lIns="0" tIns="0" rIns="0" bIns="0" rtlCol="0" anchor="t"/>
          <a:lstStyle/>
          <a:p>
            <a:pPr algn="l" indent="0" marL="0">
              <a:lnSpc>
                <a:spcPts val="2550"/>
              </a:lnSpc>
              <a:buNone/>
            </a:pPr>
            <a:r>
              <a:rPr lang="en-US" sz="1600" dirty="0">
                <a:solidFill>
                  <a:srgbClr val="383838"/>
                </a:solidFill>
                <a:latin typeface="DM Sans" pitchFamily="34" charset="0"/>
                <a:ea typeface="DM Sans" pitchFamily="34" charset="-122"/>
                <a:cs typeface="DM Sans" pitchFamily="34" charset="-120"/>
              </a:rPr>
              <a:t>Most strikes had little effect on flights.</a:t>
            </a:r>
            <a:endParaRPr lang="en-US" sz="1600" dirty="0"/>
          </a:p>
        </p:txBody>
      </p:sp>
      <p:pic>
        <p:nvPicPr>
          <p:cNvPr id="9" name="Image 3" descr="preencoded.png">    </p:cNvPr>
          <p:cNvPicPr>
            <a:picLocks noChangeAspect="1"/>
          </p:cNvPicPr>
          <p:nvPr/>
        </p:nvPicPr>
        <p:blipFill>
          <a:blip r:embed="rId4"/>
          <a:stretch>
            <a:fillRect/>
          </a:stretch>
        </p:blipFill>
        <p:spPr>
          <a:xfrm>
            <a:off x="716280" y="4391620"/>
            <a:ext cx="1023223" cy="1637228"/>
          </a:xfrm>
          <a:prstGeom prst="rect">
            <a:avLst/>
          </a:prstGeom>
        </p:spPr>
      </p:pic>
      <p:sp>
        <p:nvSpPr>
          <p:cNvPr id="10" name="Text 4"/>
          <p:cNvSpPr/>
          <p:nvPr/>
        </p:nvSpPr>
        <p:spPr>
          <a:xfrm>
            <a:off x="2046446" y="4596170"/>
            <a:ext cx="2686169" cy="335756"/>
          </a:xfrm>
          <a:prstGeom prst="rect">
            <a:avLst/>
          </a:prstGeom>
          <a:noFill/>
          <a:ln/>
        </p:spPr>
        <p:txBody>
          <a:bodyPr wrap="none" lIns="0" tIns="0" rIns="0" bIns="0" rtlCol="0" anchor="t"/>
          <a:lstStyle/>
          <a:p>
            <a:pPr algn="l" indent="0" marL="0">
              <a:lnSpc>
                <a:spcPts val="2600"/>
              </a:lnSpc>
              <a:buNone/>
            </a:pPr>
            <a:r>
              <a:rPr lang="en-US" sz="2100" dirty="0">
                <a:solidFill>
                  <a:srgbClr val="383838"/>
                </a:solidFill>
                <a:latin typeface="PT Serif" pitchFamily="34" charset="0"/>
                <a:ea typeface="PT Serif" pitchFamily="34" charset="-122"/>
                <a:cs typeface="PT Serif" pitchFamily="34" charset="-120"/>
              </a:rPr>
              <a:t>Precautionary Actions</a:t>
            </a:r>
            <a:endParaRPr lang="en-US" sz="2100" dirty="0"/>
          </a:p>
        </p:txBody>
      </p:sp>
      <p:sp>
        <p:nvSpPr>
          <p:cNvPr id="11" name="Text 5"/>
          <p:cNvSpPr/>
          <p:nvPr/>
        </p:nvSpPr>
        <p:spPr>
          <a:xfrm>
            <a:off x="2046446" y="5054679"/>
            <a:ext cx="6381274" cy="327422"/>
          </a:xfrm>
          <a:prstGeom prst="rect">
            <a:avLst/>
          </a:prstGeom>
          <a:noFill/>
          <a:ln/>
        </p:spPr>
        <p:txBody>
          <a:bodyPr wrap="none" lIns="0" tIns="0" rIns="0" bIns="0" rtlCol="0" anchor="t"/>
          <a:lstStyle/>
          <a:p>
            <a:pPr algn="l" indent="0" marL="0">
              <a:lnSpc>
                <a:spcPts val="2550"/>
              </a:lnSpc>
              <a:buNone/>
            </a:pPr>
            <a:r>
              <a:rPr lang="en-US" sz="1600" dirty="0">
                <a:solidFill>
                  <a:srgbClr val="383838"/>
                </a:solidFill>
                <a:latin typeface="DM Sans" pitchFamily="34" charset="0"/>
                <a:ea typeface="DM Sans" pitchFamily="34" charset="-122"/>
                <a:cs typeface="DM Sans" pitchFamily="34" charset="-120"/>
              </a:rPr>
              <a:t>Some strikes led to precautionary landings or aborted takeoffs.</a:t>
            </a:r>
            <a:endParaRPr lang="en-US" sz="1600" dirty="0"/>
          </a:p>
        </p:txBody>
      </p:sp>
      <p:pic>
        <p:nvPicPr>
          <p:cNvPr id="12" name="Image 4" descr="preencoded.png">    </p:cNvPr>
          <p:cNvPicPr>
            <a:picLocks noChangeAspect="1"/>
          </p:cNvPicPr>
          <p:nvPr/>
        </p:nvPicPr>
        <p:blipFill>
          <a:blip r:embed="rId5"/>
          <a:stretch>
            <a:fillRect/>
          </a:stretch>
        </p:blipFill>
        <p:spPr>
          <a:xfrm>
            <a:off x="716280" y="6028849"/>
            <a:ext cx="1023223" cy="1637228"/>
          </a:xfrm>
          <a:prstGeom prst="rect">
            <a:avLst/>
          </a:prstGeom>
        </p:spPr>
      </p:pic>
      <p:sp>
        <p:nvSpPr>
          <p:cNvPr id="13" name="Text 6"/>
          <p:cNvSpPr/>
          <p:nvPr/>
        </p:nvSpPr>
        <p:spPr>
          <a:xfrm>
            <a:off x="2046446" y="6233398"/>
            <a:ext cx="2686169" cy="335756"/>
          </a:xfrm>
          <a:prstGeom prst="rect">
            <a:avLst/>
          </a:prstGeom>
          <a:noFill/>
          <a:ln/>
        </p:spPr>
        <p:txBody>
          <a:bodyPr wrap="none" lIns="0" tIns="0" rIns="0" bIns="0" rtlCol="0" anchor="t"/>
          <a:lstStyle/>
          <a:p>
            <a:pPr algn="l" indent="0" marL="0">
              <a:lnSpc>
                <a:spcPts val="2600"/>
              </a:lnSpc>
              <a:buNone/>
            </a:pPr>
            <a:r>
              <a:rPr lang="en-US" sz="2100" dirty="0">
                <a:solidFill>
                  <a:srgbClr val="383838"/>
                </a:solidFill>
                <a:latin typeface="PT Serif" pitchFamily="34" charset="0"/>
                <a:ea typeface="PT Serif" pitchFamily="34" charset="-122"/>
                <a:cs typeface="PT Serif" pitchFamily="34" charset="-120"/>
              </a:rPr>
              <a:t>Notable Damage</a:t>
            </a:r>
            <a:endParaRPr lang="en-US" sz="2100" dirty="0"/>
          </a:p>
        </p:txBody>
      </p:sp>
      <p:sp>
        <p:nvSpPr>
          <p:cNvPr id="14" name="Text 7"/>
          <p:cNvSpPr/>
          <p:nvPr/>
        </p:nvSpPr>
        <p:spPr>
          <a:xfrm>
            <a:off x="2046446" y="6691908"/>
            <a:ext cx="6381274" cy="327422"/>
          </a:xfrm>
          <a:prstGeom prst="rect">
            <a:avLst/>
          </a:prstGeom>
          <a:noFill/>
          <a:ln/>
        </p:spPr>
        <p:txBody>
          <a:bodyPr wrap="none" lIns="0" tIns="0" rIns="0" bIns="0" rtlCol="0" anchor="t"/>
          <a:lstStyle/>
          <a:p>
            <a:pPr algn="l" indent="0" marL="0">
              <a:lnSpc>
                <a:spcPts val="2550"/>
              </a:lnSpc>
              <a:buNone/>
            </a:pPr>
            <a:r>
              <a:rPr lang="en-US" sz="1600" dirty="0">
                <a:solidFill>
                  <a:srgbClr val="383838"/>
                </a:solidFill>
                <a:latin typeface="DM Sans" pitchFamily="34" charset="0"/>
                <a:ea typeface="DM Sans" pitchFamily="34" charset="-122"/>
                <a:cs typeface="DM Sans" pitchFamily="34" charset="-120"/>
              </a:rPr>
              <a:t>Canada geese and white-tailed deer caused significant damage.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90710" y="621030"/>
            <a:ext cx="4792980" cy="6987540"/>
          </a:xfrm>
          <a:prstGeom prst="rect">
            <a:avLst/>
          </a:prstGeom>
        </p:spPr>
      </p:pic>
      <p:sp>
        <p:nvSpPr>
          <p:cNvPr id="4" name="Text 0"/>
          <p:cNvSpPr/>
          <p:nvPr/>
        </p:nvSpPr>
        <p:spPr>
          <a:xfrm>
            <a:off x="655082" y="640556"/>
            <a:ext cx="6886456" cy="614124"/>
          </a:xfrm>
          <a:prstGeom prst="rect">
            <a:avLst/>
          </a:prstGeom>
          <a:noFill/>
          <a:ln/>
        </p:spPr>
        <p:txBody>
          <a:bodyPr wrap="none" lIns="0" tIns="0" rIns="0" bIns="0" rtlCol="0" anchor="t"/>
          <a:lstStyle/>
          <a:p>
            <a:pPr indent="0" marL="0">
              <a:lnSpc>
                <a:spcPts val="4800"/>
              </a:lnSpc>
              <a:buNone/>
            </a:pPr>
            <a:r>
              <a:rPr lang="en-US" sz="3850" dirty="0">
                <a:solidFill>
                  <a:srgbClr val="020202"/>
                </a:solidFill>
                <a:latin typeface="PT Serif" pitchFamily="34" charset="0"/>
                <a:ea typeface="PT Serif" pitchFamily="34" charset="-122"/>
                <a:cs typeface="PT Serif" pitchFamily="34" charset="-120"/>
              </a:rPr>
              <a:t>Factors Influencing Bird Strikes</a:t>
            </a:r>
            <a:endParaRPr lang="en-US" sz="3850" dirty="0"/>
          </a:p>
        </p:txBody>
      </p:sp>
      <p:sp>
        <p:nvSpPr>
          <p:cNvPr id="5" name="Text 1"/>
          <p:cNvSpPr/>
          <p:nvPr/>
        </p:nvSpPr>
        <p:spPr>
          <a:xfrm>
            <a:off x="655082" y="1535430"/>
            <a:ext cx="7833836" cy="598884"/>
          </a:xfrm>
          <a:prstGeom prst="rect">
            <a:avLst/>
          </a:prstGeom>
          <a:noFill/>
          <a:ln/>
        </p:spPr>
        <p:txBody>
          <a:bodyPr wrap="square" lIns="0" tIns="0" rIns="0" bIns="0" rtlCol="0" anchor="t"/>
          <a:lstStyle/>
          <a:p>
            <a:pPr indent="0" marL="0">
              <a:lnSpc>
                <a:spcPts val="2350"/>
              </a:lnSpc>
              <a:buNone/>
            </a:pPr>
            <a:r>
              <a:rPr lang="en-US" sz="1450" dirty="0">
                <a:solidFill>
                  <a:srgbClr val="383838"/>
                </a:solidFill>
                <a:latin typeface="DM Sans" pitchFamily="34" charset="0"/>
                <a:ea typeface="DM Sans" pitchFamily="34" charset="-122"/>
                <a:cs typeface="DM Sans" pitchFamily="34" charset="-120"/>
              </a:rPr>
              <a:t>Most strikes occurred during no precipitation, with rain, fog, and snow following. Dallas/Fort Worth International Airport recorded the highest number of strikes.</a:t>
            </a:r>
            <a:endParaRPr lang="en-US" sz="1450" dirty="0"/>
          </a:p>
        </p:txBody>
      </p:sp>
      <p:pic>
        <p:nvPicPr>
          <p:cNvPr id="6" name="Image 2" descr="preencoded.png">    </p:cNvPr>
          <p:cNvPicPr>
            <a:picLocks noChangeAspect="1"/>
          </p:cNvPicPr>
          <p:nvPr/>
        </p:nvPicPr>
        <p:blipFill>
          <a:blip r:embed="rId3"/>
          <a:stretch>
            <a:fillRect/>
          </a:stretch>
        </p:blipFill>
        <p:spPr>
          <a:xfrm>
            <a:off x="655082" y="2344817"/>
            <a:ext cx="467916" cy="467916"/>
          </a:xfrm>
          <a:prstGeom prst="rect">
            <a:avLst/>
          </a:prstGeom>
        </p:spPr>
      </p:pic>
      <p:sp>
        <p:nvSpPr>
          <p:cNvPr id="7" name="Text 2"/>
          <p:cNvSpPr/>
          <p:nvPr/>
        </p:nvSpPr>
        <p:spPr>
          <a:xfrm>
            <a:off x="655082" y="2999899"/>
            <a:ext cx="2456497" cy="306943"/>
          </a:xfrm>
          <a:prstGeom prst="rect">
            <a:avLst/>
          </a:prstGeom>
          <a:noFill/>
          <a:ln/>
        </p:spPr>
        <p:txBody>
          <a:bodyPr wrap="none" lIns="0" tIns="0" rIns="0" bIns="0" rtlCol="0" anchor="t"/>
          <a:lstStyle/>
          <a:p>
            <a:pPr algn="l" indent="0" marL="0">
              <a:lnSpc>
                <a:spcPts val="2400"/>
              </a:lnSpc>
              <a:buNone/>
            </a:pPr>
            <a:r>
              <a:rPr lang="en-US" sz="1900" dirty="0">
                <a:solidFill>
                  <a:srgbClr val="383838"/>
                </a:solidFill>
                <a:latin typeface="PT Serif" pitchFamily="34" charset="0"/>
                <a:ea typeface="PT Serif" pitchFamily="34" charset="-122"/>
                <a:cs typeface="PT Serif" pitchFamily="34" charset="-120"/>
              </a:rPr>
              <a:t>Weather</a:t>
            </a:r>
            <a:endParaRPr lang="en-US" sz="1900" dirty="0"/>
          </a:p>
        </p:txBody>
      </p:sp>
      <p:sp>
        <p:nvSpPr>
          <p:cNvPr id="8" name="Text 3"/>
          <p:cNvSpPr/>
          <p:nvPr/>
        </p:nvSpPr>
        <p:spPr>
          <a:xfrm>
            <a:off x="655082" y="3419118"/>
            <a:ext cx="7833836" cy="299442"/>
          </a:xfrm>
          <a:prstGeom prst="rect">
            <a:avLst/>
          </a:prstGeom>
          <a:noFill/>
          <a:ln/>
        </p:spPr>
        <p:txBody>
          <a:bodyPr wrap="none" lIns="0" tIns="0" rIns="0" bIns="0" rtlCol="0" anchor="t"/>
          <a:lstStyle/>
          <a:p>
            <a:pPr algn="l" indent="0" marL="0">
              <a:lnSpc>
                <a:spcPts val="2350"/>
              </a:lnSpc>
              <a:buNone/>
            </a:pPr>
            <a:r>
              <a:rPr lang="en-US" sz="1450" dirty="0">
                <a:solidFill>
                  <a:srgbClr val="383838"/>
                </a:solidFill>
                <a:latin typeface="DM Sans" pitchFamily="34" charset="0"/>
                <a:ea typeface="DM Sans" pitchFamily="34" charset="-122"/>
                <a:cs typeface="DM Sans" pitchFamily="34" charset="-120"/>
              </a:rPr>
              <a:t>Most strikes happened in clear conditions, followed by rain, fog, and snow.</a:t>
            </a:r>
            <a:endParaRPr lang="en-US" sz="1450" dirty="0"/>
          </a:p>
        </p:txBody>
      </p:sp>
      <p:pic>
        <p:nvPicPr>
          <p:cNvPr id="9" name="Image 3" descr="preencoded.png">    </p:cNvPr>
          <p:cNvPicPr>
            <a:picLocks noChangeAspect="1"/>
          </p:cNvPicPr>
          <p:nvPr/>
        </p:nvPicPr>
        <p:blipFill>
          <a:blip r:embed="rId4"/>
          <a:stretch>
            <a:fillRect/>
          </a:stretch>
        </p:blipFill>
        <p:spPr>
          <a:xfrm>
            <a:off x="655082" y="4280059"/>
            <a:ext cx="467916" cy="467916"/>
          </a:xfrm>
          <a:prstGeom prst="rect">
            <a:avLst/>
          </a:prstGeom>
        </p:spPr>
      </p:pic>
      <p:sp>
        <p:nvSpPr>
          <p:cNvPr id="10" name="Text 4"/>
          <p:cNvSpPr/>
          <p:nvPr/>
        </p:nvSpPr>
        <p:spPr>
          <a:xfrm>
            <a:off x="655082" y="4935141"/>
            <a:ext cx="2456497" cy="306943"/>
          </a:xfrm>
          <a:prstGeom prst="rect">
            <a:avLst/>
          </a:prstGeom>
          <a:noFill/>
          <a:ln/>
        </p:spPr>
        <p:txBody>
          <a:bodyPr wrap="none" lIns="0" tIns="0" rIns="0" bIns="0" rtlCol="0" anchor="t"/>
          <a:lstStyle/>
          <a:p>
            <a:pPr algn="l" indent="0" marL="0">
              <a:lnSpc>
                <a:spcPts val="2400"/>
              </a:lnSpc>
              <a:buNone/>
            </a:pPr>
            <a:r>
              <a:rPr lang="en-US" sz="1900" dirty="0">
                <a:solidFill>
                  <a:srgbClr val="383838"/>
                </a:solidFill>
                <a:latin typeface="PT Serif" pitchFamily="34" charset="0"/>
                <a:ea typeface="PT Serif" pitchFamily="34" charset="-122"/>
                <a:cs typeface="PT Serif" pitchFamily="34" charset="-120"/>
              </a:rPr>
              <a:t>Airport</a:t>
            </a:r>
            <a:endParaRPr lang="en-US" sz="1900" dirty="0"/>
          </a:p>
        </p:txBody>
      </p:sp>
      <p:sp>
        <p:nvSpPr>
          <p:cNvPr id="11" name="Text 5"/>
          <p:cNvSpPr/>
          <p:nvPr/>
        </p:nvSpPr>
        <p:spPr>
          <a:xfrm>
            <a:off x="655082" y="5354360"/>
            <a:ext cx="7833836" cy="299442"/>
          </a:xfrm>
          <a:prstGeom prst="rect">
            <a:avLst/>
          </a:prstGeom>
          <a:noFill/>
          <a:ln/>
        </p:spPr>
        <p:txBody>
          <a:bodyPr wrap="none" lIns="0" tIns="0" rIns="0" bIns="0" rtlCol="0" anchor="t"/>
          <a:lstStyle/>
          <a:p>
            <a:pPr algn="l" indent="0" marL="0">
              <a:lnSpc>
                <a:spcPts val="2350"/>
              </a:lnSpc>
              <a:buNone/>
            </a:pPr>
            <a:r>
              <a:rPr lang="en-US" sz="1450" dirty="0">
                <a:solidFill>
                  <a:srgbClr val="383838"/>
                </a:solidFill>
                <a:latin typeface="DM Sans" pitchFamily="34" charset="0"/>
                <a:ea typeface="DM Sans" pitchFamily="34" charset="-122"/>
                <a:cs typeface="DM Sans" pitchFamily="34" charset="-120"/>
              </a:rPr>
              <a:t>Dallas/Fort Worth International Airport had the most recorded strikes.</a:t>
            </a:r>
            <a:endParaRPr lang="en-US" sz="1450" dirty="0"/>
          </a:p>
        </p:txBody>
      </p:sp>
      <p:pic>
        <p:nvPicPr>
          <p:cNvPr id="12" name="Image 4" descr="preencoded.png">    </p:cNvPr>
          <p:cNvPicPr>
            <a:picLocks noChangeAspect="1"/>
          </p:cNvPicPr>
          <p:nvPr/>
        </p:nvPicPr>
        <p:blipFill>
          <a:blip r:embed="rId5"/>
          <a:stretch>
            <a:fillRect/>
          </a:stretch>
        </p:blipFill>
        <p:spPr>
          <a:xfrm>
            <a:off x="655082" y="6215301"/>
            <a:ext cx="467916" cy="467916"/>
          </a:xfrm>
          <a:prstGeom prst="rect">
            <a:avLst/>
          </a:prstGeom>
        </p:spPr>
      </p:pic>
      <p:sp>
        <p:nvSpPr>
          <p:cNvPr id="13" name="Text 6"/>
          <p:cNvSpPr/>
          <p:nvPr/>
        </p:nvSpPr>
        <p:spPr>
          <a:xfrm>
            <a:off x="655082" y="6870382"/>
            <a:ext cx="2456497" cy="306943"/>
          </a:xfrm>
          <a:prstGeom prst="rect">
            <a:avLst/>
          </a:prstGeom>
          <a:noFill/>
          <a:ln/>
        </p:spPr>
        <p:txBody>
          <a:bodyPr wrap="none" lIns="0" tIns="0" rIns="0" bIns="0" rtlCol="0" anchor="t"/>
          <a:lstStyle/>
          <a:p>
            <a:pPr algn="l" indent="0" marL="0">
              <a:lnSpc>
                <a:spcPts val="2400"/>
              </a:lnSpc>
              <a:buNone/>
            </a:pPr>
            <a:r>
              <a:rPr lang="en-US" sz="1900" dirty="0">
                <a:solidFill>
                  <a:srgbClr val="383838"/>
                </a:solidFill>
                <a:latin typeface="PT Serif" pitchFamily="34" charset="0"/>
                <a:ea typeface="PT Serif" pitchFamily="34" charset="-122"/>
                <a:cs typeface="PT Serif" pitchFamily="34" charset="-120"/>
              </a:rPr>
              <a:t>Region</a:t>
            </a:r>
            <a:endParaRPr lang="en-US" sz="1900" dirty="0"/>
          </a:p>
        </p:txBody>
      </p:sp>
      <p:sp>
        <p:nvSpPr>
          <p:cNvPr id="14" name="Text 7"/>
          <p:cNvSpPr/>
          <p:nvPr/>
        </p:nvSpPr>
        <p:spPr>
          <a:xfrm>
            <a:off x="655082" y="7289602"/>
            <a:ext cx="7833836" cy="299442"/>
          </a:xfrm>
          <a:prstGeom prst="rect">
            <a:avLst/>
          </a:prstGeom>
          <a:noFill/>
          <a:ln/>
        </p:spPr>
        <p:txBody>
          <a:bodyPr wrap="none" lIns="0" tIns="0" rIns="0" bIns="0" rtlCol="0" anchor="t"/>
          <a:lstStyle/>
          <a:p>
            <a:pPr algn="l" indent="0" marL="0">
              <a:lnSpc>
                <a:spcPts val="2350"/>
              </a:lnSpc>
              <a:buNone/>
            </a:pPr>
            <a:r>
              <a:rPr lang="en-US" sz="1450" dirty="0">
                <a:solidFill>
                  <a:srgbClr val="383838"/>
                </a:solidFill>
                <a:latin typeface="DM Sans" pitchFamily="34" charset="0"/>
                <a:ea typeface="DM Sans" pitchFamily="34" charset="-122"/>
                <a:cs typeface="DM Sans" pitchFamily="34" charset="-120"/>
              </a:rPr>
              <a:t>Western states like California, Washington, and Arizona experienced the most strikes.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79280" y="624840"/>
            <a:ext cx="4815840" cy="6979920"/>
          </a:xfrm>
          <a:prstGeom prst="rect">
            <a:avLst/>
          </a:prstGeom>
        </p:spPr>
      </p:pic>
      <p:sp>
        <p:nvSpPr>
          <p:cNvPr id="4" name="Text 0"/>
          <p:cNvSpPr/>
          <p:nvPr/>
        </p:nvSpPr>
        <p:spPr>
          <a:xfrm>
            <a:off x="754380" y="795576"/>
            <a:ext cx="6619161" cy="707231"/>
          </a:xfrm>
          <a:prstGeom prst="rect">
            <a:avLst/>
          </a:prstGeom>
          <a:noFill/>
          <a:ln/>
        </p:spPr>
        <p:txBody>
          <a:bodyPr wrap="none" lIns="0" tIns="0" rIns="0" bIns="0" rtlCol="0" anchor="t"/>
          <a:lstStyle/>
          <a:p>
            <a:pPr indent="0" marL="0">
              <a:lnSpc>
                <a:spcPts val="5550"/>
              </a:lnSpc>
              <a:buNone/>
            </a:pPr>
            <a:r>
              <a:rPr lang="en-US" sz="4450" dirty="0">
                <a:solidFill>
                  <a:srgbClr val="020202"/>
                </a:solidFill>
                <a:latin typeface="PT Serif" pitchFamily="34" charset="0"/>
                <a:ea typeface="PT Serif" pitchFamily="34" charset="-122"/>
                <a:cs typeface="PT Serif" pitchFamily="34" charset="-120"/>
              </a:rPr>
              <a:t>Mitigation and Prevention</a:t>
            </a:r>
            <a:endParaRPr lang="en-US" sz="4450" dirty="0"/>
          </a:p>
        </p:txBody>
      </p:sp>
      <p:sp>
        <p:nvSpPr>
          <p:cNvPr id="5" name="Text 1"/>
          <p:cNvSpPr/>
          <p:nvPr/>
        </p:nvSpPr>
        <p:spPr>
          <a:xfrm>
            <a:off x="754380" y="1826062"/>
            <a:ext cx="7635240" cy="689610"/>
          </a:xfrm>
          <a:prstGeom prst="rect">
            <a:avLst/>
          </a:prstGeom>
          <a:noFill/>
          <a:ln/>
        </p:spPr>
        <p:txBody>
          <a:bodyPr wrap="square" lIns="0" tIns="0" rIns="0" bIns="0" rtlCol="0" anchor="t"/>
          <a:lstStyle/>
          <a:p>
            <a:pPr indent="0" marL="0">
              <a:lnSpc>
                <a:spcPts val="2700"/>
              </a:lnSpc>
              <a:buNone/>
            </a:pPr>
            <a:r>
              <a:rPr lang="en-US" sz="1650" dirty="0">
                <a:solidFill>
                  <a:srgbClr val="383838"/>
                </a:solidFill>
                <a:latin typeface="DM Sans" pitchFamily="34" charset="0"/>
                <a:ea typeface="DM Sans" pitchFamily="34" charset="-122"/>
                <a:cs typeface="DM Sans" pitchFamily="34" charset="-120"/>
              </a:rPr>
              <a:t>Strategies include habitat management, wildlife detection systems, aircraft design improvements, pilot training, and bird deterrent technologies.</a:t>
            </a:r>
            <a:endParaRPr lang="en-US" sz="1650" dirty="0"/>
          </a:p>
        </p:txBody>
      </p:sp>
      <p:sp>
        <p:nvSpPr>
          <p:cNvPr id="6" name="Shape 2"/>
          <p:cNvSpPr/>
          <p:nvPr/>
        </p:nvSpPr>
        <p:spPr>
          <a:xfrm>
            <a:off x="754380" y="3000494"/>
            <a:ext cx="484942" cy="484942"/>
          </a:xfrm>
          <a:prstGeom prst="roundRect">
            <a:avLst>
              <a:gd name="adj" fmla="val 6667"/>
            </a:avLst>
          </a:prstGeom>
          <a:solidFill>
            <a:srgbClr val="F2EEEE"/>
          </a:solidFill>
          <a:ln/>
        </p:spPr>
      </p:sp>
      <p:sp>
        <p:nvSpPr>
          <p:cNvPr id="7" name="Text 3"/>
          <p:cNvSpPr/>
          <p:nvPr/>
        </p:nvSpPr>
        <p:spPr>
          <a:xfrm>
            <a:off x="906304" y="3073241"/>
            <a:ext cx="180975" cy="339447"/>
          </a:xfrm>
          <a:prstGeom prst="rect">
            <a:avLst/>
          </a:prstGeom>
          <a:noFill/>
          <a:ln/>
        </p:spPr>
        <p:txBody>
          <a:bodyPr wrap="none" lIns="0" tIns="0" rIns="0" bIns="0" rtlCol="0" anchor="t"/>
          <a:lstStyle/>
          <a:p>
            <a:pPr algn="ctr" indent="0" marL="0">
              <a:lnSpc>
                <a:spcPts val="2650"/>
              </a:lnSpc>
              <a:buNone/>
            </a:pPr>
            <a:r>
              <a:rPr lang="en-US" sz="2650" dirty="0">
                <a:solidFill>
                  <a:srgbClr val="383838"/>
                </a:solidFill>
                <a:latin typeface="PT Serif" pitchFamily="34" charset="0"/>
                <a:ea typeface="PT Serif" pitchFamily="34" charset="-122"/>
                <a:cs typeface="PT Serif" pitchFamily="34" charset="-120"/>
              </a:rPr>
              <a:t>1</a:t>
            </a:r>
            <a:endParaRPr lang="en-US" sz="2650" dirty="0"/>
          </a:p>
        </p:txBody>
      </p:sp>
      <p:sp>
        <p:nvSpPr>
          <p:cNvPr id="8" name="Text 4"/>
          <p:cNvSpPr/>
          <p:nvPr/>
        </p:nvSpPr>
        <p:spPr>
          <a:xfrm>
            <a:off x="1454825" y="3000494"/>
            <a:ext cx="2829044" cy="353616"/>
          </a:xfrm>
          <a:prstGeom prst="rect">
            <a:avLst/>
          </a:prstGeom>
          <a:noFill/>
          <a:ln/>
        </p:spPr>
        <p:txBody>
          <a:bodyPr wrap="none" lIns="0" tIns="0" rIns="0" bIns="0" rtlCol="0" anchor="t"/>
          <a:lstStyle/>
          <a:p>
            <a:pPr indent="0" marL="0">
              <a:lnSpc>
                <a:spcPts val="2750"/>
              </a:lnSpc>
              <a:buNone/>
            </a:pPr>
            <a:r>
              <a:rPr lang="en-US" sz="2200" dirty="0">
                <a:solidFill>
                  <a:srgbClr val="383838"/>
                </a:solidFill>
                <a:latin typeface="PT Serif" pitchFamily="34" charset="0"/>
                <a:ea typeface="PT Serif" pitchFamily="34" charset="-122"/>
                <a:cs typeface="PT Serif" pitchFamily="34" charset="-120"/>
              </a:rPr>
              <a:t>Habitat Management</a:t>
            </a:r>
            <a:endParaRPr lang="en-US" sz="2200" dirty="0"/>
          </a:p>
        </p:txBody>
      </p:sp>
      <p:sp>
        <p:nvSpPr>
          <p:cNvPr id="9" name="Text 5"/>
          <p:cNvSpPr/>
          <p:nvPr/>
        </p:nvSpPr>
        <p:spPr>
          <a:xfrm>
            <a:off x="1454825" y="3483412"/>
            <a:ext cx="6934795" cy="689610"/>
          </a:xfrm>
          <a:prstGeom prst="rect">
            <a:avLst/>
          </a:prstGeom>
          <a:noFill/>
          <a:ln/>
        </p:spPr>
        <p:txBody>
          <a:bodyPr wrap="square" lIns="0" tIns="0" rIns="0" bIns="0" rtlCol="0" anchor="t"/>
          <a:lstStyle/>
          <a:p>
            <a:pPr indent="0" marL="0">
              <a:lnSpc>
                <a:spcPts val="2700"/>
              </a:lnSpc>
              <a:buNone/>
            </a:pPr>
            <a:r>
              <a:rPr lang="en-US" sz="1650" dirty="0">
                <a:solidFill>
                  <a:srgbClr val="383838"/>
                </a:solidFill>
                <a:latin typeface="DM Sans" pitchFamily="34" charset="0"/>
                <a:ea typeface="DM Sans" pitchFamily="34" charset="-122"/>
                <a:cs typeface="DM Sans" pitchFamily="34" charset="-120"/>
              </a:rPr>
              <a:t>Modify airport environments to reduce attractive food and water sources for birds.</a:t>
            </a:r>
            <a:endParaRPr lang="en-US" sz="1650" dirty="0"/>
          </a:p>
        </p:txBody>
      </p:sp>
      <p:sp>
        <p:nvSpPr>
          <p:cNvPr id="10" name="Shape 6"/>
          <p:cNvSpPr/>
          <p:nvPr/>
        </p:nvSpPr>
        <p:spPr>
          <a:xfrm>
            <a:off x="754380" y="4630936"/>
            <a:ext cx="484942" cy="484942"/>
          </a:xfrm>
          <a:prstGeom prst="roundRect">
            <a:avLst>
              <a:gd name="adj" fmla="val 6667"/>
            </a:avLst>
          </a:prstGeom>
          <a:solidFill>
            <a:srgbClr val="F2EEEE"/>
          </a:solidFill>
          <a:ln/>
        </p:spPr>
      </p:sp>
      <p:sp>
        <p:nvSpPr>
          <p:cNvPr id="11" name="Text 7"/>
          <p:cNvSpPr/>
          <p:nvPr/>
        </p:nvSpPr>
        <p:spPr>
          <a:xfrm>
            <a:off x="906304" y="4703683"/>
            <a:ext cx="180975" cy="339447"/>
          </a:xfrm>
          <a:prstGeom prst="rect">
            <a:avLst/>
          </a:prstGeom>
          <a:noFill/>
          <a:ln/>
        </p:spPr>
        <p:txBody>
          <a:bodyPr wrap="none" lIns="0" tIns="0" rIns="0" bIns="0" rtlCol="0" anchor="t"/>
          <a:lstStyle/>
          <a:p>
            <a:pPr algn="ctr" indent="0" marL="0">
              <a:lnSpc>
                <a:spcPts val="2650"/>
              </a:lnSpc>
              <a:buNone/>
            </a:pPr>
            <a:r>
              <a:rPr lang="en-US" sz="2650" dirty="0">
                <a:solidFill>
                  <a:srgbClr val="383838"/>
                </a:solidFill>
                <a:latin typeface="PT Serif" pitchFamily="34" charset="0"/>
                <a:ea typeface="PT Serif" pitchFamily="34" charset="-122"/>
                <a:cs typeface="PT Serif" pitchFamily="34" charset="-120"/>
              </a:rPr>
              <a:t>2</a:t>
            </a:r>
            <a:endParaRPr lang="en-US" sz="2650" dirty="0"/>
          </a:p>
        </p:txBody>
      </p:sp>
      <p:sp>
        <p:nvSpPr>
          <p:cNvPr id="12" name="Text 8"/>
          <p:cNvSpPr/>
          <p:nvPr/>
        </p:nvSpPr>
        <p:spPr>
          <a:xfrm>
            <a:off x="1454825" y="4630936"/>
            <a:ext cx="2829044" cy="353616"/>
          </a:xfrm>
          <a:prstGeom prst="rect">
            <a:avLst/>
          </a:prstGeom>
          <a:noFill/>
          <a:ln/>
        </p:spPr>
        <p:txBody>
          <a:bodyPr wrap="none" lIns="0" tIns="0" rIns="0" bIns="0" rtlCol="0" anchor="t"/>
          <a:lstStyle/>
          <a:p>
            <a:pPr indent="0" marL="0">
              <a:lnSpc>
                <a:spcPts val="2750"/>
              </a:lnSpc>
              <a:buNone/>
            </a:pPr>
            <a:r>
              <a:rPr lang="en-US" sz="2200" dirty="0">
                <a:solidFill>
                  <a:srgbClr val="383838"/>
                </a:solidFill>
                <a:latin typeface="PT Serif" pitchFamily="34" charset="0"/>
                <a:ea typeface="PT Serif" pitchFamily="34" charset="-122"/>
                <a:cs typeface="PT Serif" pitchFamily="34" charset="-120"/>
              </a:rPr>
              <a:t>Detection Systems</a:t>
            </a:r>
            <a:endParaRPr lang="en-US" sz="2200" dirty="0"/>
          </a:p>
        </p:txBody>
      </p:sp>
      <p:sp>
        <p:nvSpPr>
          <p:cNvPr id="13" name="Text 9"/>
          <p:cNvSpPr/>
          <p:nvPr/>
        </p:nvSpPr>
        <p:spPr>
          <a:xfrm>
            <a:off x="1454825" y="5113853"/>
            <a:ext cx="6934795" cy="689610"/>
          </a:xfrm>
          <a:prstGeom prst="rect">
            <a:avLst/>
          </a:prstGeom>
          <a:noFill/>
          <a:ln/>
        </p:spPr>
        <p:txBody>
          <a:bodyPr wrap="square" lIns="0" tIns="0" rIns="0" bIns="0" rtlCol="0" anchor="t"/>
          <a:lstStyle/>
          <a:p>
            <a:pPr indent="0" marL="0">
              <a:lnSpc>
                <a:spcPts val="2700"/>
              </a:lnSpc>
              <a:buNone/>
            </a:pPr>
            <a:r>
              <a:rPr lang="en-US" sz="1650" dirty="0">
                <a:solidFill>
                  <a:srgbClr val="383838"/>
                </a:solidFill>
                <a:latin typeface="DM Sans" pitchFamily="34" charset="0"/>
                <a:ea typeface="DM Sans" pitchFamily="34" charset="-122"/>
                <a:cs typeface="DM Sans" pitchFamily="34" charset="-120"/>
              </a:rPr>
              <a:t>Use radar and other technologies to track bird activity and warn pilots.</a:t>
            </a:r>
            <a:endParaRPr lang="en-US" sz="1650" dirty="0"/>
          </a:p>
        </p:txBody>
      </p:sp>
      <p:sp>
        <p:nvSpPr>
          <p:cNvPr id="14" name="Shape 10"/>
          <p:cNvSpPr/>
          <p:nvPr/>
        </p:nvSpPr>
        <p:spPr>
          <a:xfrm>
            <a:off x="754380" y="6261378"/>
            <a:ext cx="484942" cy="484942"/>
          </a:xfrm>
          <a:prstGeom prst="roundRect">
            <a:avLst>
              <a:gd name="adj" fmla="val 6667"/>
            </a:avLst>
          </a:prstGeom>
          <a:solidFill>
            <a:srgbClr val="F2EEEE"/>
          </a:solidFill>
          <a:ln/>
        </p:spPr>
      </p:sp>
      <p:sp>
        <p:nvSpPr>
          <p:cNvPr id="15" name="Text 11"/>
          <p:cNvSpPr/>
          <p:nvPr/>
        </p:nvSpPr>
        <p:spPr>
          <a:xfrm>
            <a:off x="906304" y="6334125"/>
            <a:ext cx="180975" cy="339447"/>
          </a:xfrm>
          <a:prstGeom prst="rect">
            <a:avLst/>
          </a:prstGeom>
          <a:noFill/>
          <a:ln/>
        </p:spPr>
        <p:txBody>
          <a:bodyPr wrap="none" lIns="0" tIns="0" rIns="0" bIns="0" rtlCol="0" anchor="t"/>
          <a:lstStyle/>
          <a:p>
            <a:pPr algn="ctr" indent="0" marL="0">
              <a:lnSpc>
                <a:spcPts val="2650"/>
              </a:lnSpc>
              <a:buNone/>
            </a:pPr>
            <a:r>
              <a:rPr lang="en-US" sz="2650" dirty="0">
                <a:solidFill>
                  <a:srgbClr val="383838"/>
                </a:solidFill>
                <a:latin typeface="PT Serif" pitchFamily="34" charset="0"/>
                <a:ea typeface="PT Serif" pitchFamily="34" charset="-122"/>
                <a:cs typeface="PT Serif" pitchFamily="34" charset="-120"/>
              </a:rPr>
              <a:t>3</a:t>
            </a:r>
            <a:endParaRPr lang="en-US" sz="2650" dirty="0"/>
          </a:p>
        </p:txBody>
      </p:sp>
      <p:sp>
        <p:nvSpPr>
          <p:cNvPr id="16" name="Text 12"/>
          <p:cNvSpPr/>
          <p:nvPr/>
        </p:nvSpPr>
        <p:spPr>
          <a:xfrm>
            <a:off x="1454825" y="6261378"/>
            <a:ext cx="2829044" cy="353616"/>
          </a:xfrm>
          <a:prstGeom prst="rect">
            <a:avLst/>
          </a:prstGeom>
          <a:noFill/>
          <a:ln/>
        </p:spPr>
        <p:txBody>
          <a:bodyPr wrap="none" lIns="0" tIns="0" rIns="0" bIns="0" rtlCol="0" anchor="t"/>
          <a:lstStyle/>
          <a:p>
            <a:pPr indent="0" marL="0">
              <a:lnSpc>
                <a:spcPts val="2750"/>
              </a:lnSpc>
              <a:buNone/>
            </a:pPr>
            <a:r>
              <a:rPr lang="en-US" sz="2200" dirty="0">
                <a:solidFill>
                  <a:srgbClr val="383838"/>
                </a:solidFill>
                <a:latin typeface="PT Serif" pitchFamily="34" charset="0"/>
                <a:ea typeface="PT Serif" pitchFamily="34" charset="-122"/>
                <a:cs typeface="PT Serif" pitchFamily="34" charset="-120"/>
              </a:rPr>
              <a:t>Aircraft Design</a:t>
            </a:r>
            <a:endParaRPr lang="en-US" sz="2200" dirty="0"/>
          </a:p>
        </p:txBody>
      </p:sp>
      <p:sp>
        <p:nvSpPr>
          <p:cNvPr id="17" name="Text 13"/>
          <p:cNvSpPr/>
          <p:nvPr/>
        </p:nvSpPr>
        <p:spPr>
          <a:xfrm>
            <a:off x="1454825" y="6744295"/>
            <a:ext cx="6934795" cy="689610"/>
          </a:xfrm>
          <a:prstGeom prst="rect">
            <a:avLst/>
          </a:prstGeom>
          <a:noFill/>
          <a:ln/>
        </p:spPr>
        <p:txBody>
          <a:bodyPr wrap="square" lIns="0" tIns="0" rIns="0" bIns="0" rtlCol="0" anchor="t"/>
          <a:lstStyle/>
          <a:p>
            <a:pPr indent="0" marL="0">
              <a:lnSpc>
                <a:spcPts val="2700"/>
              </a:lnSpc>
              <a:buNone/>
            </a:pPr>
            <a:r>
              <a:rPr lang="en-US" sz="1650" dirty="0">
                <a:solidFill>
                  <a:srgbClr val="383838"/>
                </a:solidFill>
                <a:latin typeface="DM Sans" pitchFamily="34" charset="0"/>
                <a:ea typeface="DM Sans" pitchFamily="34" charset="-122"/>
                <a:cs typeface="DM Sans" pitchFamily="34" charset="-120"/>
              </a:rPr>
              <a:t>Strengthen windshields and engines to better withstand bird impacts.</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2024-10-24T07:35:48Z</dcterms:created>
  <dcterms:modified xsi:type="dcterms:W3CDTF">2024-10-24T07:35:48Z</dcterms:modified>
</cp:coreProperties>
</file>