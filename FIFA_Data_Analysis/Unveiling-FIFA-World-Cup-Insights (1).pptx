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Barlow"/>
      <p:regular r:id="rId17"/>
    </p:embeddedFont>
    <p:embeddedFont>
      <p:font typeface="Barlow"/>
      <p:regular r:id="rId18"/>
    </p:embeddedFont>
    <p:embeddedFont>
      <p:font typeface="Barlow"/>
      <p:regular r:id="rId19"/>
    </p:embeddedFont>
    <p:embeddedFont>
      <p:font typeface="Barlow"/>
      <p:regular r:id="rId20"/>
    </p:embeddedFont>
    <p:embeddedFont>
      <p:font typeface="Montserrat"/>
      <p:regular r:id="rId21"/>
    </p:embeddedFont>
    <p:embeddedFont>
      <p:font typeface="Montserrat"/>
      <p:regular r:id="rId22"/>
    </p:embeddedFont>
    <p:embeddedFont>
      <p:font typeface="Montserrat"/>
      <p:regular r:id="rId23"/>
    </p:embeddedFont>
    <p:embeddedFont>
      <p:font typeface="Montserrat"/>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C32"/>
          </a:solidFill>
          <a:ln/>
        </p:spPr>
      </p:sp>
      <p:sp>
        <p:nvSpPr>
          <p:cNvPr id="3" name="Shape 1"/>
          <p:cNvSpPr/>
          <p:nvPr/>
        </p:nvSpPr>
        <p:spPr>
          <a:xfrm>
            <a:off x="0" y="0"/>
            <a:ext cx="14630400" cy="8229600"/>
          </a:xfrm>
          <a:prstGeom prst="rect">
            <a:avLst/>
          </a:prstGeom>
          <a:solidFill>
            <a:srgbClr val="28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1821418"/>
            <a:ext cx="7415927" cy="2241233"/>
          </a:xfrm>
          <a:prstGeom prst="rect">
            <a:avLst/>
          </a:prstGeom>
          <a:noFill/>
          <a:ln/>
        </p:spPr>
        <p:txBody>
          <a:bodyPr wrap="square" lIns="0" tIns="0" rIns="0" bIns="0" rtlCol="0" anchor="t"/>
          <a:lstStyle/>
          <a:p>
            <a:pPr indent="0" marL="0">
              <a:lnSpc>
                <a:spcPts val="8800"/>
              </a:lnSpc>
              <a:buNone/>
            </a:pPr>
            <a:r>
              <a:rPr lang="en-US" sz="7050" b="1" dirty="0">
                <a:solidFill>
                  <a:srgbClr val="9998FF"/>
                </a:solidFill>
                <a:latin typeface="Barlow Bold" pitchFamily="34" charset="0"/>
                <a:ea typeface="Barlow Bold" pitchFamily="34" charset="-122"/>
                <a:cs typeface="Barlow Bold" pitchFamily="34" charset="-120"/>
              </a:rPr>
              <a:t>Unveiling FIFA World Cup Insights</a:t>
            </a:r>
            <a:endParaRPr lang="en-US" sz="7050" dirty="0"/>
          </a:p>
        </p:txBody>
      </p:sp>
      <p:sp>
        <p:nvSpPr>
          <p:cNvPr id="4" name="Text 1"/>
          <p:cNvSpPr/>
          <p:nvPr/>
        </p:nvSpPr>
        <p:spPr>
          <a:xfrm>
            <a:off x="864037" y="4432935"/>
            <a:ext cx="7415927" cy="1975247"/>
          </a:xfrm>
          <a:prstGeom prst="rect">
            <a:avLst/>
          </a:prstGeom>
          <a:noFill/>
          <a:ln/>
        </p:spPr>
        <p:txBody>
          <a:bodyPr wrap="square" lIns="0" tIns="0" rIns="0" bIns="0" rtlCol="0" anchor="t"/>
          <a:lstStyle/>
          <a:p>
            <a:pPr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This data analysis delves into the rich history of the FIFA World Cup, uncovering compelling insights from match data and player statistics. From legendary top scorers to host country performance, we'll explore the tournament's captivating narratives.</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4606" y="514469"/>
            <a:ext cx="4921925" cy="615196"/>
          </a:xfrm>
          <a:prstGeom prst="rect">
            <a:avLst/>
          </a:prstGeom>
          <a:noFill/>
          <a:ln/>
        </p:spPr>
        <p:txBody>
          <a:bodyPr wrap="none" lIns="0" tIns="0" rIns="0" bIns="0" rtlCol="0" anchor="t"/>
          <a:lstStyle/>
          <a:p>
            <a:pPr indent="0" marL="0">
              <a:lnSpc>
                <a:spcPts val="4800"/>
              </a:lnSpc>
              <a:buNone/>
            </a:pPr>
            <a:r>
              <a:rPr lang="en-US" sz="3850" b="1" dirty="0">
                <a:solidFill>
                  <a:srgbClr val="9998FF"/>
                </a:solidFill>
                <a:latin typeface="Barlow Bold" pitchFamily="34" charset="0"/>
                <a:ea typeface="Barlow Bold" pitchFamily="34" charset="-122"/>
                <a:cs typeface="Barlow Bold" pitchFamily="34" charset="-120"/>
              </a:rPr>
              <a:t>Data Journey</a:t>
            </a:r>
            <a:endParaRPr lang="en-US" sz="3850" dirty="0"/>
          </a:p>
        </p:txBody>
      </p:sp>
      <p:sp>
        <p:nvSpPr>
          <p:cNvPr id="3" name="Shape 1"/>
          <p:cNvSpPr/>
          <p:nvPr/>
        </p:nvSpPr>
        <p:spPr>
          <a:xfrm>
            <a:off x="923687" y="1503640"/>
            <a:ext cx="22860" cy="6211491"/>
          </a:xfrm>
          <a:prstGeom prst="roundRect">
            <a:avLst>
              <a:gd name="adj" fmla="val 736364"/>
            </a:avLst>
          </a:prstGeom>
          <a:solidFill>
            <a:srgbClr val="60646A"/>
          </a:solidFill>
          <a:ln/>
        </p:spPr>
      </p:sp>
      <p:sp>
        <p:nvSpPr>
          <p:cNvPr id="4" name="Shape 2"/>
          <p:cNvSpPr/>
          <p:nvPr/>
        </p:nvSpPr>
        <p:spPr>
          <a:xfrm>
            <a:off x="1122640" y="1912977"/>
            <a:ext cx="654606" cy="22860"/>
          </a:xfrm>
          <a:prstGeom prst="roundRect">
            <a:avLst>
              <a:gd name="adj" fmla="val 736364"/>
            </a:avLst>
          </a:prstGeom>
          <a:solidFill>
            <a:srgbClr val="60646A"/>
          </a:solidFill>
          <a:ln/>
        </p:spPr>
      </p:sp>
      <p:sp>
        <p:nvSpPr>
          <p:cNvPr id="5" name="Shape 3"/>
          <p:cNvSpPr/>
          <p:nvPr/>
        </p:nvSpPr>
        <p:spPr>
          <a:xfrm>
            <a:off x="724733" y="1714024"/>
            <a:ext cx="420767" cy="420767"/>
          </a:xfrm>
          <a:prstGeom prst="roundRect">
            <a:avLst>
              <a:gd name="adj" fmla="val 40006"/>
            </a:avLst>
          </a:prstGeom>
          <a:solidFill>
            <a:srgbClr val="282C32"/>
          </a:solidFill>
          <a:ln/>
          <a:effectLst>
            <a:outerShdw sx="100000" sy="100000" kx="0" ky="0" algn="bl" rotWithShape="0" blurRad="45720" dist="22860" dir="13500000">
              <a:srgbClr val="ffffff">
                <a:alpha val="10000"/>
              </a:srgbClr>
            </a:outerShdw>
          </a:effectLst>
        </p:spPr>
      </p:sp>
      <p:sp>
        <p:nvSpPr>
          <p:cNvPr id="6" name="Text 4"/>
          <p:cNvSpPr/>
          <p:nvPr/>
        </p:nvSpPr>
        <p:spPr>
          <a:xfrm>
            <a:off x="882848" y="1776770"/>
            <a:ext cx="104537" cy="295275"/>
          </a:xfrm>
          <a:prstGeom prst="rect">
            <a:avLst/>
          </a:prstGeom>
          <a:noFill/>
          <a:ln/>
        </p:spPr>
        <p:txBody>
          <a:bodyPr wrap="none" lIns="0" tIns="0" rIns="0" bIns="0" rtlCol="0" anchor="t"/>
          <a:lstStyle/>
          <a:p>
            <a:pPr algn="ctr" indent="0" marL="0">
              <a:lnSpc>
                <a:spcPts val="2300"/>
              </a:lnSpc>
              <a:buNone/>
            </a:pPr>
            <a:r>
              <a:rPr lang="en-US" sz="2300" b="1" dirty="0">
                <a:solidFill>
                  <a:srgbClr val="EEEFF5"/>
                </a:solidFill>
                <a:latin typeface="Barlow Bold" pitchFamily="34" charset="0"/>
                <a:ea typeface="Barlow Bold" pitchFamily="34" charset="-122"/>
                <a:cs typeface="Barlow Bold" pitchFamily="34" charset="-120"/>
              </a:rPr>
              <a:t>1</a:t>
            </a:r>
            <a:endParaRPr lang="en-US" sz="2300" dirty="0"/>
          </a:p>
        </p:txBody>
      </p:sp>
      <p:sp>
        <p:nvSpPr>
          <p:cNvPr id="7" name="Text 5"/>
          <p:cNvSpPr/>
          <p:nvPr/>
        </p:nvSpPr>
        <p:spPr>
          <a:xfrm>
            <a:off x="1963698" y="1690568"/>
            <a:ext cx="2460903" cy="307538"/>
          </a:xfrm>
          <a:prstGeom prst="rect">
            <a:avLst/>
          </a:prstGeom>
          <a:noFill/>
          <a:ln/>
        </p:spPr>
        <p:txBody>
          <a:bodyPr wrap="none" lIns="0" tIns="0" rIns="0" bIns="0" rtlCol="0" anchor="t"/>
          <a:lstStyle/>
          <a:p>
            <a:pPr algn="l" indent="0" marL="0">
              <a:lnSpc>
                <a:spcPts val="2400"/>
              </a:lnSpc>
              <a:buNone/>
            </a:pPr>
            <a:r>
              <a:rPr lang="en-US" sz="1900" b="1" dirty="0">
                <a:solidFill>
                  <a:srgbClr val="EEEFF5"/>
                </a:solidFill>
                <a:latin typeface="Barlow Bold" pitchFamily="34" charset="0"/>
                <a:ea typeface="Barlow Bold" pitchFamily="34" charset="-122"/>
                <a:cs typeface="Barlow Bold" pitchFamily="34" charset="-120"/>
              </a:rPr>
              <a:t>Data Acquisition</a:t>
            </a:r>
            <a:endParaRPr lang="en-US" sz="1900" dirty="0"/>
          </a:p>
        </p:txBody>
      </p:sp>
      <p:sp>
        <p:nvSpPr>
          <p:cNvPr id="8" name="Text 6"/>
          <p:cNvSpPr/>
          <p:nvPr/>
        </p:nvSpPr>
        <p:spPr>
          <a:xfrm>
            <a:off x="1963698" y="2110264"/>
            <a:ext cx="12012097" cy="299204"/>
          </a:xfrm>
          <a:prstGeom prst="rect">
            <a:avLst/>
          </a:prstGeom>
          <a:noFill/>
          <a:ln/>
        </p:spPr>
        <p:txBody>
          <a:bodyPr wrap="none" lIns="0" tIns="0" rIns="0" bIns="0" rtlCol="0" anchor="t"/>
          <a:lstStyle/>
          <a:p>
            <a:pPr algn="l" indent="0" marL="0">
              <a:lnSpc>
                <a:spcPts val="2350"/>
              </a:lnSpc>
              <a:buNone/>
            </a:pPr>
            <a:r>
              <a:rPr lang="en-US" sz="1450" dirty="0">
                <a:solidFill>
                  <a:srgbClr val="EEEFF5"/>
                </a:solidFill>
                <a:latin typeface="Montserrat" pitchFamily="34" charset="0"/>
                <a:ea typeface="Montserrat" pitchFamily="34" charset="-122"/>
                <a:cs typeface="Montserrat" pitchFamily="34" charset="-120"/>
              </a:rPr>
              <a:t>Data sourced from Unified Mentor.</a:t>
            </a:r>
            <a:endParaRPr lang="en-US" sz="1450" dirty="0"/>
          </a:p>
        </p:txBody>
      </p:sp>
      <p:sp>
        <p:nvSpPr>
          <p:cNvPr id="9" name="Shape 7"/>
          <p:cNvSpPr/>
          <p:nvPr/>
        </p:nvSpPr>
        <p:spPr>
          <a:xfrm>
            <a:off x="1122640" y="3192661"/>
            <a:ext cx="654606" cy="22860"/>
          </a:xfrm>
          <a:prstGeom prst="roundRect">
            <a:avLst>
              <a:gd name="adj" fmla="val 736364"/>
            </a:avLst>
          </a:prstGeom>
          <a:solidFill>
            <a:srgbClr val="60646A"/>
          </a:solidFill>
          <a:ln/>
        </p:spPr>
      </p:sp>
      <p:sp>
        <p:nvSpPr>
          <p:cNvPr id="10" name="Shape 8"/>
          <p:cNvSpPr/>
          <p:nvPr/>
        </p:nvSpPr>
        <p:spPr>
          <a:xfrm>
            <a:off x="724733" y="2993708"/>
            <a:ext cx="420767" cy="420767"/>
          </a:xfrm>
          <a:prstGeom prst="roundRect">
            <a:avLst>
              <a:gd name="adj" fmla="val 40006"/>
            </a:avLst>
          </a:prstGeom>
          <a:solidFill>
            <a:srgbClr val="282C32"/>
          </a:solidFill>
          <a:ln/>
          <a:effectLst>
            <a:outerShdw sx="100000" sy="100000" kx="0" ky="0" algn="bl" rotWithShape="0" blurRad="45720" dist="22860" dir="13500000">
              <a:srgbClr val="ffffff">
                <a:alpha val="10000"/>
              </a:srgbClr>
            </a:outerShdw>
          </a:effectLst>
        </p:spPr>
      </p:sp>
      <p:sp>
        <p:nvSpPr>
          <p:cNvPr id="11" name="Text 9"/>
          <p:cNvSpPr/>
          <p:nvPr/>
        </p:nvSpPr>
        <p:spPr>
          <a:xfrm>
            <a:off x="852368" y="3056453"/>
            <a:ext cx="165378" cy="295275"/>
          </a:xfrm>
          <a:prstGeom prst="rect">
            <a:avLst/>
          </a:prstGeom>
          <a:noFill/>
          <a:ln/>
        </p:spPr>
        <p:txBody>
          <a:bodyPr wrap="none" lIns="0" tIns="0" rIns="0" bIns="0" rtlCol="0" anchor="t"/>
          <a:lstStyle/>
          <a:p>
            <a:pPr algn="ctr" indent="0" marL="0">
              <a:lnSpc>
                <a:spcPts val="2300"/>
              </a:lnSpc>
              <a:buNone/>
            </a:pPr>
            <a:r>
              <a:rPr lang="en-US" sz="2300" b="1" dirty="0">
                <a:solidFill>
                  <a:srgbClr val="EEEFF5"/>
                </a:solidFill>
                <a:latin typeface="Barlow Bold" pitchFamily="34" charset="0"/>
                <a:ea typeface="Barlow Bold" pitchFamily="34" charset="-122"/>
                <a:cs typeface="Barlow Bold" pitchFamily="34" charset="-120"/>
              </a:rPr>
              <a:t>2</a:t>
            </a:r>
            <a:endParaRPr lang="en-US" sz="2300" dirty="0"/>
          </a:p>
        </p:txBody>
      </p:sp>
      <p:sp>
        <p:nvSpPr>
          <p:cNvPr id="12" name="Text 10"/>
          <p:cNvSpPr/>
          <p:nvPr/>
        </p:nvSpPr>
        <p:spPr>
          <a:xfrm>
            <a:off x="1963698" y="2970252"/>
            <a:ext cx="2460903" cy="307538"/>
          </a:xfrm>
          <a:prstGeom prst="rect">
            <a:avLst/>
          </a:prstGeom>
          <a:noFill/>
          <a:ln/>
        </p:spPr>
        <p:txBody>
          <a:bodyPr wrap="none" lIns="0" tIns="0" rIns="0" bIns="0" rtlCol="0" anchor="t"/>
          <a:lstStyle/>
          <a:p>
            <a:pPr algn="l" indent="0" marL="0">
              <a:lnSpc>
                <a:spcPts val="2400"/>
              </a:lnSpc>
              <a:buNone/>
            </a:pPr>
            <a:r>
              <a:rPr lang="en-US" sz="1900" b="1" dirty="0">
                <a:solidFill>
                  <a:srgbClr val="EEEFF5"/>
                </a:solidFill>
                <a:latin typeface="Barlow Bold" pitchFamily="34" charset="0"/>
                <a:ea typeface="Barlow Bold" pitchFamily="34" charset="-122"/>
                <a:cs typeface="Barlow Bold" pitchFamily="34" charset="-120"/>
              </a:rPr>
              <a:t>Research</a:t>
            </a:r>
            <a:endParaRPr lang="en-US" sz="1900" dirty="0"/>
          </a:p>
        </p:txBody>
      </p:sp>
      <p:sp>
        <p:nvSpPr>
          <p:cNvPr id="13" name="Text 11"/>
          <p:cNvSpPr/>
          <p:nvPr/>
        </p:nvSpPr>
        <p:spPr>
          <a:xfrm>
            <a:off x="1963698" y="3389947"/>
            <a:ext cx="12012097" cy="299204"/>
          </a:xfrm>
          <a:prstGeom prst="rect">
            <a:avLst/>
          </a:prstGeom>
          <a:noFill/>
          <a:ln/>
        </p:spPr>
        <p:txBody>
          <a:bodyPr wrap="none" lIns="0" tIns="0" rIns="0" bIns="0" rtlCol="0" anchor="t"/>
          <a:lstStyle/>
          <a:p>
            <a:pPr algn="l" indent="0" marL="0">
              <a:lnSpc>
                <a:spcPts val="2350"/>
              </a:lnSpc>
              <a:buNone/>
            </a:pPr>
            <a:r>
              <a:rPr lang="en-US" sz="1450" dirty="0">
                <a:solidFill>
                  <a:srgbClr val="EEEFF5"/>
                </a:solidFill>
                <a:latin typeface="Montserrat" pitchFamily="34" charset="0"/>
                <a:ea typeface="Montserrat" pitchFamily="34" charset="-122"/>
                <a:cs typeface="Montserrat" pitchFamily="34" charset="-120"/>
              </a:rPr>
              <a:t>Background research on FIFA and football conducted.</a:t>
            </a:r>
            <a:endParaRPr lang="en-US" sz="1450" dirty="0"/>
          </a:p>
        </p:txBody>
      </p:sp>
      <p:sp>
        <p:nvSpPr>
          <p:cNvPr id="14" name="Shape 12"/>
          <p:cNvSpPr/>
          <p:nvPr/>
        </p:nvSpPr>
        <p:spPr>
          <a:xfrm>
            <a:off x="1122640" y="4472345"/>
            <a:ext cx="654606" cy="22860"/>
          </a:xfrm>
          <a:prstGeom prst="roundRect">
            <a:avLst>
              <a:gd name="adj" fmla="val 736364"/>
            </a:avLst>
          </a:prstGeom>
          <a:solidFill>
            <a:srgbClr val="60646A"/>
          </a:solidFill>
          <a:ln/>
        </p:spPr>
      </p:sp>
      <p:sp>
        <p:nvSpPr>
          <p:cNvPr id="15" name="Shape 13"/>
          <p:cNvSpPr/>
          <p:nvPr/>
        </p:nvSpPr>
        <p:spPr>
          <a:xfrm>
            <a:off x="724733" y="4273391"/>
            <a:ext cx="420767" cy="420767"/>
          </a:xfrm>
          <a:prstGeom prst="roundRect">
            <a:avLst>
              <a:gd name="adj" fmla="val 40006"/>
            </a:avLst>
          </a:prstGeom>
          <a:solidFill>
            <a:srgbClr val="282C32"/>
          </a:solidFill>
          <a:ln/>
          <a:effectLst>
            <a:outerShdw sx="100000" sy="100000" kx="0" ky="0" algn="bl" rotWithShape="0" blurRad="45720" dist="22860" dir="13500000">
              <a:srgbClr val="ffffff">
                <a:alpha val="10000"/>
              </a:srgbClr>
            </a:outerShdw>
          </a:effectLst>
        </p:spPr>
      </p:sp>
      <p:sp>
        <p:nvSpPr>
          <p:cNvPr id="16" name="Text 14"/>
          <p:cNvSpPr/>
          <p:nvPr/>
        </p:nvSpPr>
        <p:spPr>
          <a:xfrm>
            <a:off x="855345" y="4336137"/>
            <a:ext cx="159544" cy="295275"/>
          </a:xfrm>
          <a:prstGeom prst="rect">
            <a:avLst/>
          </a:prstGeom>
          <a:noFill/>
          <a:ln/>
        </p:spPr>
        <p:txBody>
          <a:bodyPr wrap="none" lIns="0" tIns="0" rIns="0" bIns="0" rtlCol="0" anchor="t"/>
          <a:lstStyle/>
          <a:p>
            <a:pPr algn="ctr" indent="0" marL="0">
              <a:lnSpc>
                <a:spcPts val="2300"/>
              </a:lnSpc>
              <a:buNone/>
            </a:pPr>
            <a:r>
              <a:rPr lang="en-US" sz="2300" b="1" dirty="0">
                <a:solidFill>
                  <a:srgbClr val="EEEFF5"/>
                </a:solidFill>
                <a:latin typeface="Barlow Bold" pitchFamily="34" charset="0"/>
                <a:ea typeface="Barlow Bold" pitchFamily="34" charset="-122"/>
                <a:cs typeface="Barlow Bold" pitchFamily="34" charset="-120"/>
              </a:rPr>
              <a:t>3</a:t>
            </a:r>
            <a:endParaRPr lang="en-US" sz="2300" dirty="0"/>
          </a:p>
        </p:txBody>
      </p:sp>
      <p:sp>
        <p:nvSpPr>
          <p:cNvPr id="17" name="Text 15"/>
          <p:cNvSpPr/>
          <p:nvPr/>
        </p:nvSpPr>
        <p:spPr>
          <a:xfrm>
            <a:off x="1963698" y="4249936"/>
            <a:ext cx="2460903" cy="307538"/>
          </a:xfrm>
          <a:prstGeom prst="rect">
            <a:avLst/>
          </a:prstGeom>
          <a:noFill/>
          <a:ln/>
        </p:spPr>
        <p:txBody>
          <a:bodyPr wrap="none" lIns="0" tIns="0" rIns="0" bIns="0" rtlCol="0" anchor="t"/>
          <a:lstStyle/>
          <a:p>
            <a:pPr algn="l" indent="0" marL="0">
              <a:lnSpc>
                <a:spcPts val="2400"/>
              </a:lnSpc>
              <a:buNone/>
            </a:pPr>
            <a:r>
              <a:rPr lang="en-US" sz="1900" b="1" dirty="0">
                <a:solidFill>
                  <a:srgbClr val="EEEFF5"/>
                </a:solidFill>
                <a:latin typeface="Barlow Bold" pitchFamily="34" charset="0"/>
                <a:ea typeface="Barlow Bold" pitchFamily="34" charset="-122"/>
                <a:cs typeface="Barlow Bold" pitchFamily="34" charset="-120"/>
              </a:rPr>
              <a:t>Data Cleaning</a:t>
            </a:r>
            <a:endParaRPr lang="en-US" sz="1900" dirty="0"/>
          </a:p>
        </p:txBody>
      </p:sp>
      <p:sp>
        <p:nvSpPr>
          <p:cNvPr id="18" name="Text 16"/>
          <p:cNvSpPr/>
          <p:nvPr/>
        </p:nvSpPr>
        <p:spPr>
          <a:xfrm>
            <a:off x="1963698" y="4669631"/>
            <a:ext cx="12012097" cy="299204"/>
          </a:xfrm>
          <a:prstGeom prst="rect">
            <a:avLst/>
          </a:prstGeom>
          <a:noFill/>
          <a:ln/>
        </p:spPr>
        <p:txBody>
          <a:bodyPr wrap="none" lIns="0" tIns="0" rIns="0" bIns="0" rtlCol="0" anchor="t"/>
          <a:lstStyle/>
          <a:p>
            <a:pPr algn="l" indent="0" marL="0">
              <a:lnSpc>
                <a:spcPts val="2350"/>
              </a:lnSpc>
              <a:buNone/>
            </a:pPr>
            <a:r>
              <a:rPr lang="en-US" sz="1450" dirty="0">
                <a:solidFill>
                  <a:srgbClr val="EEEFF5"/>
                </a:solidFill>
                <a:latin typeface="Montserrat" pitchFamily="34" charset="0"/>
                <a:ea typeface="Montserrat" pitchFamily="34" charset="-122"/>
                <a:cs typeface="Montserrat" pitchFamily="34" charset="-120"/>
              </a:rPr>
              <a:t>Python (pandas, datetime, numpy) and Excel used for cleaning.</a:t>
            </a:r>
            <a:endParaRPr lang="en-US" sz="1450" dirty="0"/>
          </a:p>
        </p:txBody>
      </p:sp>
      <p:sp>
        <p:nvSpPr>
          <p:cNvPr id="19" name="Shape 17"/>
          <p:cNvSpPr/>
          <p:nvPr/>
        </p:nvSpPr>
        <p:spPr>
          <a:xfrm>
            <a:off x="1122640" y="5752028"/>
            <a:ext cx="654606" cy="22860"/>
          </a:xfrm>
          <a:prstGeom prst="roundRect">
            <a:avLst>
              <a:gd name="adj" fmla="val 736364"/>
            </a:avLst>
          </a:prstGeom>
          <a:solidFill>
            <a:srgbClr val="60646A"/>
          </a:solidFill>
          <a:ln/>
        </p:spPr>
      </p:sp>
      <p:sp>
        <p:nvSpPr>
          <p:cNvPr id="20" name="Shape 18"/>
          <p:cNvSpPr/>
          <p:nvPr/>
        </p:nvSpPr>
        <p:spPr>
          <a:xfrm>
            <a:off x="724733" y="5553075"/>
            <a:ext cx="420767" cy="420767"/>
          </a:xfrm>
          <a:prstGeom prst="roundRect">
            <a:avLst>
              <a:gd name="adj" fmla="val 40006"/>
            </a:avLst>
          </a:prstGeom>
          <a:solidFill>
            <a:srgbClr val="282C32"/>
          </a:solidFill>
          <a:ln/>
          <a:effectLst>
            <a:outerShdw sx="100000" sy="100000" kx="0" ky="0" algn="bl" rotWithShape="0" blurRad="45720" dist="22860" dir="13500000">
              <a:srgbClr val="ffffff">
                <a:alpha val="10000"/>
              </a:srgbClr>
            </a:outerShdw>
          </a:effectLst>
        </p:spPr>
      </p:sp>
      <p:sp>
        <p:nvSpPr>
          <p:cNvPr id="21" name="Text 19"/>
          <p:cNvSpPr/>
          <p:nvPr/>
        </p:nvSpPr>
        <p:spPr>
          <a:xfrm>
            <a:off x="845701" y="5615821"/>
            <a:ext cx="178713" cy="295275"/>
          </a:xfrm>
          <a:prstGeom prst="rect">
            <a:avLst/>
          </a:prstGeom>
          <a:noFill/>
          <a:ln/>
        </p:spPr>
        <p:txBody>
          <a:bodyPr wrap="none" lIns="0" tIns="0" rIns="0" bIns="0" rtlCol="0" anchor="t"/>
          <a:lstStyle/>
          <a:p>
            <a:pPr algn="ctr" indent="0" marL="0">
              <a:lnSpc>
                <a:spcPts val="2300"/>
              </a:lnSpc>
              <a:buNone/>
            </a:pPr>
            <a:r>
              <a:rPr lang="en-US" sz="2300" b="1" dirty="0">
                <a:solidFill>
                  <a:srgbClr val="EEEFF5"/>
                </a:solidFill>
                <a:latin typeface="Barlow Bold" pitchFamily="34" charset="0"/>
                <a:ea typeface="Barlow Bold" pitchFamily="34" charset="-122"/>
                <a:cs typeface="Barlow Bold" pitchFamily="34" charset="-120"/>
              </a:rPr>
              <a:t>4</a:t>
            </a:r>
            <a:endParaRPr lang="en-US" sz="2300" dirty="0"/>
          </a:p>
        </p:txBody>
      </p:sp>
      <p:sp>
        <p:nvSpPr>
          <p:cNvPr id="22" name="Text 20"/>
          <p:cNvSpPr/>
          <p:nvPr/>
        </p:nvSpPr>
        <p:spPr>
          <a:xfrm>
            <a:off x="1963698" y="5529620"/>
            <a:ext cx="2460903" cy="307538"/>
          </a:xfrm>
          <a:prstGeom prst="rect">
            <a:avLst/>
          </a:prstGeom>
          <a:noFill/>
          <a:ln/>
        </p:spPr>
        <p:txBody>
          <a:bodyPr wrap="none" lIns="0" tIns="0" rIns="0" bIns="0" rtlCol="0" anchor="t"/>
          <a:lstStyle/>
          <a:p>
            <a:pPr algn="l" indent="0" marL="0">
              <a:lnSpc>
                <a:spcPts val="2400"/>
              </a:lnSpc>
              <a:buNone/>
            </a:pPr>
            <a:r>
              <a:rPr lang="en-US" sz="1900" b="1" dirty="0">
                <a:solidFill>
                  <a:srgbClr val="EEEFF5"/>
                </a:solidFill>
                <a:latin typeface="Barlow Bold" pitchFamily="34" charset="0"/>
                <a:ea typeface="Barlow Bold" pitchFamily="34" charset="-122"/>
                <a:cs typeface="Barlow Bold" pitchFamily="34" charset="-120"/>
              </a:rPr>
              <a:t>Data Visualization</a:t>
            </a:r>
            <a:endParaRPr lang="en-US" sz="1900" dirty="0"/>
          </a:p>
        </p:txBody>
      </p:sp>
      <p:sp>
        <p:nvSpPr>
          <p:cNvPr id="23" name="Text 21"/>
          <p:cNvSpPr/>
          <p:nvPr/>
        </p:nvSpPr>
        <p:spPr>
          <a:xfrm>
            <a:off x="1963698" y="5949315"/>
            <a:ext cx="12012097" cy="299204"/>
          </a:xfrm>
          <a:prstGeom prst="rect">
            <a:avLst/>
          </a:prstGeom>
          <a:noFill/>
          <a:ln/>
        </p:spPr>
        <p:txBody>
          <a:bodyPr wrap="none" lIns="0" tIns="0" rIns="0" bIns="0" rtlCol="0" anchor="t"/>
          <a:lstStyle/>
          <a:p>
            <a:pPr algn="l" indent="0" marL="0">
              <a:lnSpc>
                <a:spcPts val="2350"/>
              </a:lnSpc>
              <a:buNone/>
            </a:pPr>
            <a:r>
              <a:rPr lang="en-US" sz="1450" dirty="0">
                <a:solidFill>
                  <a:srgbClr val="EEEFF5"/>
                </a:solidFill>
                <a:latin typeface="Montserrat" pitchFamily="34" charset="0"/>
                <a:ea typeface="Montserrat" pitchFamily="34" charset="-122"/>
                <a:cs typeface="Montserrat" pitchFamily="34" charset="-120"/>
              </a:rPr>
              <a:t>Power BI leveraged for creating visualizations.</a:t>
            </a:r>
            <a:endParaRPr lang="en-US" sz="1450" dirty="0"/>
          </a:p>
        </p:txBody>
      </p:sp>
      <p:sp>
        <p:nvSpPr>
          <p:cNvPr id="24" name="Shape 22"/>
          <p:cNvSpPr/>
          <p:nvPr/>
        </p:nvSpPr>
        <p:spPr>
          <a:xfrm>
            <a:off x="1122640" y="7031712"/>
            <a:ext cx="654606" cy="22860"/>
          </a:xfrm>
          <a:prstGeom prst="roundRect">
            <a:avLst>
              <a:gd name="adj" fmla="val 736364"/>
            </a:avLst>
          </a:prstGeom>
          <a:solidFill>
            <a:srgbClr val="60646A"/>
          </a:solidFill>
          <a:ln/>
        </p:spPr>
      </p:sp>
      <p:sp>
        <p:nvSpPr>
          <p:cNvPr id="25" name="Shape 23"/>
          <p:cNvSpPr/>
          <p:nvPr/>
        </p:nvSpPr>
        <p:spPr>
          <a:xfrm>
            <a:off x="724733" y="6832759"/>
            <a:ext cx="420767" cy="420767"/>
          </a:xfrm>
          <a:prstGeom prst="roundRect">
            <a:avLst>
              <a:gd name="adj" fmla="val 40006"/>
            </a:avLst>
          </a:prstGeom>
          <a:solidFill>
            <a:srgbClr val="282C32"/>
          </a:solidFill>
          <a:ln/>
          <a:effectLst>
            <a:outerShdw sx="100000" sy="100000" kx="0" ky="0" algn="bl" rotWithShape="0" blurRad="45720" dist="22860" dir="13500000">
              <a:srgbClr val="ffffff">
                <a:alpha val="10000"/>
              </a:srgbClr>
            </a:outerShdw>
          </a:effectLst>
        </p:spPr>
      </p:sp>
      <p:sp>
        <p:nvSpPr>
          <p:cNvPr id="26" name="Text 24"/>
          <p:cNvSpPr/>
          <p:nvPr/>
        </p:nvSpPr>
        <p:spPr>
          <a:xfrm>
            <a:off x="855464" y="6895505"/>
            <a:ext cx="159187" cy="295275"/>
          </a:xfrm>
          <a:prstGeom prst="rect">
            <a:avLst/>
          </a:prstGeom>
          <a:noFill/>
          <a:ln/>
        </p:spPr>
        <p:txBody>
          <a:bodyPr wrap="none" lIns="0" tIns="0" rIns="0" bIns="0" rtlCol="0" anchor="t"/>
          <a:lstStyle/>
          <a:p>
            <a:pPr algn="ctr" indent="0" marL="0">
              <a:lnSpc>
                <a:spcPts val="2300"/>
              </a:lnSpc>
              <a:buNone/>
            </a:pPr>
            <a:r>
              <a:rPr lang="en-US" sz="2300" b="1" dirty="0">
                <a:solidFill>
                  <a:srgbClr val="EEEFF5"/>
                </a:solidFill>
                <a:latin typeface="Barlow Bold" pitchFamily="34" charset="0"/>
                <a:ea typeface="Barlow Bold" pitchFamily="34" charset="-122"/>
                <a:cs typeface="Barlow Bold" pitchFamily="34" charset="-120"/>
              </a:rPr>
              <a:t>5</a:t>
            </a:r>
            <a:endParaRPr lang="en-US" sz="2300" dirty="0"/>
          </a:p>
        </p:txBody>
      </p:sp>
      <p:sp>
        <p:nvSpPr>
          <p:cNvPr id="27" name="Text 25"/>
          <p:cNvSpPr/>
          <p:nvPr/>
        </p:nvSpPr>
        <p:spPr>
          <a:xfrm>
            <a:off x="1963698" y="6809303"/>
            <a:ext cx="2460903" cy="307538"/>
          </a:xfrm>
          <a:prstGeom prst="rect">
            <a:avLst/>
          </a:prstGeom>
          <a:noFill/>
          <a:ln/>
        </p:spPr>
        <p:txBody>
          <a:bodyPr wrap="none" lIns="0" tIns="0" rIns="0" bIns="0" rtlCol="0" anchor="t"/>
          <a:lstStyle/>
          <a:p>
            <a:pPr algn="l" indent="0" marL="0">
              <a:lnSpc>
                <a:spcPts val="2400"/>
              </a:lnSpc>
              <a:buNone/>
            </a:pPr>
            <a:r>
              <a:rPr lang="en-US" sz="1900" b="1" dirty="0">
                <a:solidFill>
                  <a:srgbClr val="EEEFF5"/>
                </a:solidFill>
                <a:latin typeface="Barlow Bold" pitchFamily="34" charset="0"/>
                <a:ea typeface="Barlow Bold" pitchFamily="34" charset="-122"/>
                <a:cs typeface="Barlow Bold" pitchFamily="34" charset="-120"/>
              </a:rPr>
              <a:t>Insights &amp; Reporting</a:t>
            </a:r>
            <a:endParaRPr lang="en-US" sz="1900" dirty="0"/>
          </a:p>
        </p:txBody>
      </p:sp>
      <p:sp>
        <p:nvSpPr>
          <p:cNvPr id="28" name="Text 26"/>
          <p:cNvSpPr/>
          <p:nvPr/>
        </p:nvSpPr>
        <p:spPr>
          <a:xfrm>
            <a:off x="1963698" y="7228999"/>
            <a:ext cx="12012097" cy="299204"/>
          </a:xfrm>
          <a:prstGeom prst="rect">
            <a:avLst/>
          </a:prstGeom>
          <a:noFill/>
          <a:ln/>
        </p:spPr>
        <p:txBody>
          <a:bodyPr wrap="none" lIns="0" tIns="0" rIns="0" bIns="0" rtlCol="0" anchor="t"/>
          <a:lstStyle/>
          <a:p>
            <a:pPr algn="l" indent="0" marL="0">
              <a:lnSpc>
                <a:spcPts val="2350"/>
              </a:lnSpc>
              <a:buNone/>
            </a:pPr>
            <a:r>
              <a:rPr lang="en-US" sz="1450" dirty="0">
                <a:solidFill>
                  <a:srgbClr val="EEEFF5"/>
                </a:solidFill>
                <a:latin typeface="Montserrat" pitchFamily="34" charset="0"/>
                <a:ea typeface="Montserrat" pitchFamily="34" charset="-122"/>
                <a:cs typeface="Montserrat" pitchFamily="34" charset="-120"/>
              </a:rPr>
              <a:t>Insights derived from visualizations, culminating in a report and presentation.</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1975009"/>
            <a:ext cx="6497003" cy="812125"/>
          </a:xfrm>
          <a:prstGeom prst="rect">
            <a:avLst/>
          </a:prstGeom>
          <a:noFill/>
          <a:ln/>
        </p:spPr>
        <p:txBody>
          <a:bodyPr wrap="none" lIns="0" tIns="0" rIns="0" bIns="0" rtlCol="0" anchor="t"/>
          <a:lstStyle/>
          <a:p>
            <a:pPr indent="0" marL="0">
              <a:lnSpc>
                <a:spcPts val="6350"/>
              </a:lnSpc>
              <a:buNone/>
            </a:pPr>
            <a:r>
              <a:rPr lang="en-US" sz="5100" b="1" dirty="0">
                <a:solidFill>
                  <a:srgbClr val="9998FF"/>
                </a:solidFill>
                <a:latin typeface="Barlow Bold" pitchFamily="34" charset="0"/>
                <a:ea typeface="Barlow Bold" pitchFamily="34" charset="-122"/>
                <a:cs typeface="Barlow Bold" pitchFamily="34" charset="-120"/>
              </a:rPr>
              <a:t>Top Performers</a:t>
            </a:r>
            <a:endParaRPr lang="en-US" sz="5100" dirty="0"/>
          </a:p>
        </p:txBody>
      </p:sp>
      <p:sp>
        <p:nvSpPr>
          <p:cNvPr id="4" name="Text 1"/>
          <p:cNvSpPr/>
          <p:nvPr/>
        </p:nvSpPr>
        <p:spPr>
          <a:xfrm>
            <a:off x="864037" y="3404235"/>
            <a:ext cx="2070140" cy="406003"/>
          </a:xfrm>
          <a:prstGeom prst="rect">
            <a:avLst/>
          </a:prstGeom>
          <a:noFill/>
          <a:ln/>
        </p:spPr>
        <p:txBody>
          <a:bodyPr wrap="none" lIns="0" tIns="0" rIns="0" bIns="0" rtlCol="0" anchor="t"/>
          <a:lstStyle/>
          <a:p>
            <a:pPr indent="0" marL="0">
              <a:lnSpc>
                <a:spcPts val="3150"/>
              </a:lnSpc>
              <a:buNone/>
            </a:pPr>
            <a:r>
              <a:rPr lang="en-US" sz="2550" b="1" dirty="0">
                <a:solidFill>
                  <a:srgbClr val="9998FF"/>
                </a:solidFill>
                <a:latin typeface="Barlow Bold" pitchFamily="34" charset="0"/>
                <a:ea typeface="Barlow Bold" pitchFamily="34" charset="-122"/>
                <a:cs typeface="Barlow Bold" pitchFamily="34" charset="-120"/>
              </a:rPr>
              <a:t>Appearances</a:t>
            </a:r>
            <a:endParaRPr lang="en-US" sz="2550" dirty="0"/>
          </a:p>
        </p:txBody>
      </p:sp>
      <p:sp>
        <p:nvSpPr>
          <p:cNvPr id="5" name="Text 2"/>
          <p:cNvSpPr/>
          <p:nvPr/>
        </p:nvSpPr>
        <p:spPr>
          <a:xfrm>
            <a:off x="864037" y="4057055"/>
            <a:ext cx="2070140" cy="1580198"/>
          </a:xfrm>
          <a:prstGeom prst="rect">
            <a:avLst/>
          </a:prstGeom>
          <a:noFill/>
          <a:ln/>
        </p:spPr>
        <p:txBody>
          <a:bodyPr wrap="square" lIns="0" tIns="0" rIns="0" bIns="0" rtlCol="0" anchor="t"/>
          <a:lstStyle/>
          <a:p>
            <a:pPr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Brazil and Germany lead with 78 matches each.</a:t>
            </a:r>
            <a:endParaRPr lang="en-US" sz="1900" dirty="0"/>
          </a:p>
        </p:txBody>
      </p:sp>
      <p:sp>
        <p:nvSpPr>
          <p:cNvPr id="6" name="Text 3"/>
          <p:cNvSpPr/>
          <p:nvPr/>
        </p:nvSpPr>
        <p:spPr>
          <a:xfrm>
            <a:off x="3544014" y="3404235"/>
            <a:ext cx="2070140" cy="406003"/>
          </a:xfrm>
          <a:prstGeom prst="rect">
            <a:avLst/>
          </a:prstGeom>
          <a:noFill/>
          <a:ln/>
        </p:spPr>
        <p:txBody>
          <a:bodyPr wrap="none" lIns="0" tIns="0" rIns="0" bIns="0" rtlCol="0" anchor="t"/>
          <a:lstStyle/>
          <a:p>
            <a:pPr indent="0" marL="0">
              <a:lnSpc>
                <a:spcPts val="3150"/>
              </a:lnSpc>
              <a:buNone/>
            </a:pPr>
            <a:r>
              <a:rPr lang="en-US" sz="2550" b="1" dirty="0">
                <a:solidFill>
                  <a:srgbClr val="9998FF"/>
                </a:solidFill>
                <a:latin typeface="Barlow Bold" pitchFamily="34" charset="0"/>
                <a:ea typeface="Barlow Bold" pitchFamily="34" charset="-122"/>
                <a:cs typeface="Barlow Bold" pitchFamily="34" charset="-120"/>
              </a:rPr>
              <a:t>Victories</a:t>
            </a:r>
            <a:endParaRPr lang="en-US" sz="2550" dirty="0"/>
          </a:p>
        </p:txBody>
      </p:sp>
      <p:sp>
        <p:nvSpPr>
          <p:cNvPr id="7" name="Text 4"/>
          <p:cNvSpPr/>
          <p:nvPr/>
        </p:nvSpPr>
        <p:spPr>
          <a:xfrm>
            <a:off x="3544014" y="4057055"/>
            <a:ext cx="2070140" cy="1580198"/>
          </a:xfrm>
          <a:prstGeom prst="rect">
            <a:avLst/>
          </a:prstGeom>
          <a:noFill/>
          <a:ln/>
        </p:spPr>
        <p:txBody>
          <a:bodyPr wrap="square" lIns="0" tIns="0" rIns="0" bIns="0" rtlCol="0" anchor="t"/>
          <a:lstStyle/>
          <a:p>
            <a:pPr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Brazil boasts 58 wins, followed by Germany with 53.</a:t>
            </a:r>
            <a:endParaRPr lang="en-US" sz="1900" dirty="0"/>
          </a:p>
        </p:txBody>
      </p:sp>
      <p:sp>
        <p:nvSpPr>
          <p:cNvPr id="8" name="Text 5"/>
          <p:cNvSpPr/>
          <p:nvPr/>
        </p:nvSpPr>
        <p:spPr>
          <a:xfrm>
            <a:off x="6223992" y="3404235"/>
            <a:ext cx="2070140" cy="406003"/>
          </a:xfrm>
          <a:prstGeom prst="rect">
            <a:avLst/>
          </a:prstGeom>
          <a:noFill/>
          <a:ln/>
        </p:spPr>
        <p:txBody>
          <a:bodyPr wrap="none" lIns="0" tIns="0" rIns="0" bIns="0" rtlCol="0" anchor="t"/>
          <a:lstStyle/>
          <a:p>
            <a:pPr indent="0" marL="0">
              <a:lnSpc>
                <a:spcPts val="3150"/>
              </a:lnSpc>
              <a:buNone/>
            </a:pPr>
            <a:r>
              <a:rPr lang="en-US" sz="2550" b="1" dirty="0">
                <a:solidFill>
                  <a:srgbClr val="9998FF"/>
                </a:solidFill>
                <a:latin typeface="Barlow Bold" pitchFamily="34" charset="0"/>
                <a:ea typeface="Barlow Bold" pitchFamily="34" charset="-122"/>
                <a:cs typeface="Barlow Bold" pitchFamily="34" charset="-120"/>
              </a:rPr>
              <a:t>Goals</a:t>
            </a:r>
            <a:endParaRPr lang="en-US" sz="2550" dirty="0"/>
          </a:p>
        </p:txBody>
      </p:sp>
      <p:sp>
        <p:nvSpPr>
          <p:cNvPr id="9" name="Text 6"/>
          <p:cNvSpPr/>
          <p:nvPr/>
        </p:nvSpPr>
        <p:spPr>
          <a:xfrm>
            <a:off x="6223992" y="4057055"/>
            <a:ext cx="2070140" cy="1975247"/>
          </a:xfrm>
          <a:prstGeom prst="rect">
            <a:avLst/>
          </a:prstGeom>
          <a:noFill/>
          <a:ln/>
        </p:spPr>
        <p:txBody>
          <a:bodyPr wrap="square" lIns="0" tIns="0" rIns="0" bIns="0" rtlCol="0" anchor="t"/>
          <a:lstStyle/>
          <a:p>
            <a:pPr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Ronaldo (13 goals) surpasses Klose (12 goals) as the top scorer.</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308610" y="2313146"/>
            <a:ext cx="4869061" cy="3603188"/>
          </a:xfrm>
          <a:prstGeom prst="rect">
            <a:avLst/>
          </a:prstGeom>
        </p:spPr>
      </p:pic>
      <p:sp>
        <p:nvSpPr>
          <p:cNvPr id="4" name="Text 0"/>
          <p:cNvSpPr/>
          <p:nvPr/>
        </p:nvSpPr>
        <p:spPr>
          <a:xfrm>
            <a:off x="6350437" y="1041440"/>
            <a:ext cx="6497003" cy="812125"/>
          </a:xfrm>
          <a:prstGeom prst="rect">
            <a:avLst/>
          </a:prstGeom>
          <a:noFill/>
          <a:ln/>
        </p:spPr>
        <p:txBody>
          <a:bodyPr wrap="none" lIns="0" tIns="0" rIns="0" bIns="0" rtlCol="0" anchor="t"/>
          <a:lstStyle/>
          <a:p>
            <a:pPr indent="0" marL="0">
              <a:lnSpc>
                <a:spcPts val="6350"/>
              </a:lnSpc>
              <a:buNone/>
            </a:pPr>
            <a:r>
              <a:rPr lang="en-US" sz="5100" b="1" dirty="0">
                <a:solidFill>
                  <a:srgbClr val="9998FF"/>
                </a:solidFill>
                <a:latin typeface="Barlow Bold" pitchFamily="34" charset="0"/>
                <a:ea typeface="Barlow Bold" pitchFamily="34" charset="-122"/>
                <a:cs typeface="Barlow Bold" pitchFamily="34" charset="-120"/>
              </a:rPr>
              <a:t>Match Dynamics</a:t>
            </a:r>
            <a:endParaRPr lang="en-US" sz="5100" dirty="0"/>
          </a:p>
        </p:txBody>
      </p:sp>
      <p:sp>
        <p:nvSpPr>
          <p:cNvPr id="5" name="Shape 1"/>
          <p:cNvSpPr/>
          <p:nvPr/>
        </p:nvSpPr>
        <p:spPr>
          <a:xfrm>
            <a:off x="6350437" y="2501503"/>
            <a:ext cx="555427" cy="555427"/>
          </a:xfrm>
          <a:prstGeom prst="roundRect">
            <a:avLst>
              <a:gd name="adj" fmla="val 40005"/>
            </a:avLst>
          </a:prstGeom>
          <a:solidFill>
            <a:srgbClr val="282C32"/>
          </a:solidFill>
          <a:ln/>
          <a:effectLst>
            <a:outerShdw sx="100000" sy="100000" kx="0" ky="0" algn="bl" rotWithShape="0" blurRad="60960" dist="30480" dir="13500000">
              <a:srgbClr val="ffffff">
                <a:alpha val="10000"/>
              </a:srgbClr>
            </a:outerShdw>
          </a:effectLst>
        </p:spPr>
      </p:sp>
      <p:sp>
        <p:nvSpPr>
          <p:cNvPr id="6" name="Text 2"/>
          <p:cNvSpPr/>
          <p:nvPr/>
        </p:nvSpPr>
        <p:spPr>
          <a:xfrm>
            <a:off x="6559153" y="2584252"/>
            <a:ext cx="137993" cy="389811"/>
          </a:xfrm>
          <a:prstGeom prst="rect">
            <a:avLst/>
          </a:prstGeom>
          <a:noFill/>
          <a:ln/>
        </p:spPr>
        <p:txBody>
          <a:bodyPr wrap="none" lIns="0" tIns="0" rIns="0" bIns="0" rtlCol="0" anchor="t"/>
          <a:lstStyle/>
          <a:p>
            <a:pPr algn="ctr" indent="0" marL="0">
              <a:lnSpc>
                <a:spcPts val="3050"/>
              </a:lnSpc>
              <a:buNone/>
            </a:pPr>
            <a:r>
              <a:rPr lang="en-US" sz="3050" b="1" dirty="0">
                <a:solidFill>
                  <a:srgbClr val="EEEFF5"/>
                </a:solidFill>
                <a:latin typeface="Barlow Bold" pitchFamily="34" charset="0"/>
                <a:ea typeface="Barlow Bold" pitchFamily="34" charset="-122"/>
                <a:cs typeface="Barlow Bold" pitchFamily="34" charset="-120"/>
              </a:rPr>
              <a:t>1</a:t>
            </a:r>
            <a:endParaRPr lang="en-US" sz="3050" dirty="0"/>
          </a:p>
        </p:txBody>
      </p:sp>
      <p:sp>
        <p:nvSpPr>
          <p:cNvPr id="7" name="Text 3"/>
          <p:cNvSpPr/>
          <p:nvPr/>
        </p:nvSpPr>
        <p:spPr>
          <a:xfrm>
            <a:off x="7152680" y="2501503"/>
            <a:ext cx="3248501" cy="406003"/>
          </a:xfrm>
          <a:prstGeom prst="rect">
            <a:avLst/>
          </a:prstGeom>
          <a:noFill/>
          <a:ln/>
        </p:spPr>
        <p:txBody>
          <a:bodyPr wrap="none" lIns="0" tIns="0" rIns="0" bIns="0" rtlCol="0" anchor="t"/>
          <a:lstStyle/>
          <a:p>
            <a:pPr indent="0" marL="0">
              <a:lnSpc>
                <a:spcPts val="3150"/>
              </a:lnSpc>
              <a:buNone/>
            </a:pPr>
            <a:r>
              <a:rPr lang="en-US" sz="2550" b="1" dirty="0">
                <a:solidFill>
                  <a:srgbClr val="EEEFF5"/>
                </a:solidFill>
                <a:latin typeface="Barlow Bold" pitchFamily="34" charset="0"/>
                <a:ea typeface="Barlow Bold" pitchFamily="34" charset="-122"/>
                <a:cs typeface="Barlow Bold" pitchFamily="34" charset="-120"/>
              </a:rPr>
              <a:t>Average Goals</a:t>
            </a:r>
            <a:endParaRPr lang="en-US" sz="2550" dirty="0"/>
          </a:p>
        </p:txBody>
      </p:sp>
      <p:sp>
        <p:nvSpPr>
          <p:cNvPr id="8" name="Text 4"/>
          <p:cNvSpPr/>
          <p:nvPr/>
        </p:nvSpPr>
        <p:spPr>
          <a:xfrm>
            <a:off x="7152680" y="3055620"/>
            <a:ext cx="6613684" cy="790099"/>
          </a:xfrm>
          <a:prstGeom prst="rect">
            <a:avLst/>
          </a:prstGeom>
          <a:noFill/>
          <a:ln/>
        </p:spPr>
        <p:txBody>
          <a:bodyPr wrap="square" lIns="0" tIns="0" rIns="0" bIns="0" rtlCol="0" anchor="t"/>
          <a:lstStyle/>
          <a:p>
            <a:pPr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Recent tournaments average around 2.5 goals per match.</a:t>
            </a:r>
            <a:endParaRPr lang="en-US" sz="1900" dirty="0"/>
          </a:p>
        </p:txBody>
      </p:sp>
      <p:sp>
        <p:nvSpPr>
          <p:cNvPr id="9" name="Shape 5"/>
          <p:cNvSpPr/>
          <p:nvPr/>
        </p:nvSpPr>
        <p:spPr>
          <a:xfrm>
            <a:off x="6350437" y="4370189"/>
            <a:ext cx="555427" cy="555427"/>
          </a:xfrm>
          <a:prstGeom prst="roundRect">
            <a:avLst>
              <a:gd name="adj" fmla="val 40005"/>
            </a:avLst>
          </a:prstGeom>
          <a:solidFill>
            <a:srgbClr val="282C32"/>
          </a:solidFill>
          <a:ln/>
          <a:effectLst>
            <a:outerShdw sx="100000" sy="100000" kx="0" ky="0" algn="bl" rotWithShape="0" blurRad="60960" dist="30480" dir="13500000">
              <a:srgbClr val="ffffff">
                <a:alpha val="10000"/>
              </a:srgbClr>
            </a:outerShdw>
          </a:effectLst>
        </p:spPr>
      </p:sp>
      <p:sp>
        <p:nvSpPr>
          <p:cNvPr id="10" name="Text 6"/>
          <p:cNvSpPr/>
          <p:nvPr/>
        </p:nvSpPr>
        <p:spPr>
          <a:xfrm>
            <a:off x="6519029" y="4452938"/>
            <a:ext cx="218242" cy="389811"/>
          </a:xfrm>
          <a:prstGeom prst="rect">
            <a:avLst/>
          </a:prstGeom>
          <a:noFill/>
          <a:ln/>
        </p:spPr>
        <p:txBody>
          <a:bodyPr wrap="none" lIns="0" tIns="0" rIns="0" bIns="0" rtlCol="0" anchor="t"/>
          <a:lstStyle/>
          <a:p>
            <a:pPr algn="ctr" indent="0" marL="0">
              <a:lnSpc>
                <a:spcPts val="3050"/>
              </a:lnSpc>
              <a:buNone/>
            </a:pPr>
            <a:r>
              <a:rPr lang="en-US" sz="3050" b="1" dirty="0">
                <a:solidFill>
                  <a:srgbClr val="EEEFF5"/>
                </a:solidFill>
                <a:latin typeface="Barlow Bold" pitchFamily="34" charset="0"/>
                <a:ea typeface="Barlow Bold" pitchFamily="34" charset="-122"/>
                <a:cs typeface="Barlow Bold" pitchFamily="34" charset="-120"/>
              </a:rPr>
              <a:t>2</a:t>
            </a:r>
            <a:endParaRPr lang="en-US" sz="3050" dirty="0"/>
          </a:p>
        </p:txBody>
      </p:sp>
      <p:sp>
        <p:nvSpPr>
          <p:cNvPr id="11" name="Text 7"/>
          <p:cNvSpPr/>
          <p:nvPr/>
        </p:nvSpPr>
        <p:spPr>
          <a:xfrm>
            <a:off x="7152680" y="4370189"/>
            <a:ext cx="3248501" cy="406003"/>
          </a:xfrm>
          <a:prstGeom prst="rect">
            <a:avLst/>
          </a:prstGeom>
          <a:noFill/>
          <a:ln/>
        </p:spPr>
        <p:txBody>
          <a:bodyPr wrap="none" lIns="0" tIns="0" rIns="0" bIns="0" rtlCol="0" anchor="t"/>
          <a:lstStyle/>
          <a:p>
            <a:pPr indent="0" marL="0">
              <a:lnSpc>
                <a:spcPts val="3150"/>
              </a:lnSpc>
              <a:buNone/>
            </a:pPr>
            <a:r>
              <a:rPr lang="en-US" sz="2550" b="1" dirty="0">
                <a:solidFill>
                  <a:srgbClr val="EEEFF5"/>
                </a:solidFill>
                <a:latin typeface="Barlow Bold" pitchFamily="34" charset="0"/>
                <a:ea typeface="Barlow Bold" pitchFamily="34" charset="-122"/>
                <a:cs typeface="Barlow Bold" pitchFamily="34" charset="-120"/>
              </a:rPr>
              <a:t>Penalty Shootouts</a:t>
            </a:r>
            <a:endParaRPr lang="en-US" sz="2550" dirty="0"/>
          </a:p>
        </p:txBody>
      </p:sp>
      <p:sp>
        <p:nvSpPr>
          <p:cNvPr id="12" name="Text 8"/>
          <p:cNvSpPr/>
          <p:nvPr/>
        </p:nvSpPr>
        <p:spPr>
          <a:xfrm>
            <a:off x="7152680" y="4924306"/>
            <a:ext cx="6613684" cy="790099"/>
          </a:xfrm>
          <a:prstGeom prst="rect">
            <a:avLst/>
          </a:prstGeom>
          <a:noFill/>
          <a:ln/>
        </p:spPr>
        <p:txBody>
          <a:bodyPr wrap="square" lIns="0" tIns="0" rIns="0" bIns="0" rtlCol="0" anchor="t"/>
          <a:lstStyle/>
          <a:p>
            <a:pPr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Increasingly common in knockout stages, with Germany excelling.</a:t>
            </a:r>
            <a:endParaRPr lang="en-US" sz="1900" dirty="0"/>
          </a:p>
        </p:txBody>
      </p:sp>
      <p:sp>
        <p:nvSpPr>
          <p:cNvPr id="13" name="Shape 9"/>
          <p:cNvSpPr/>
          <p:nvPr/>
        </p:nvSpPr>
        <p:spPr>
          <a:xfrm>
            <a:off x="6350437" y="6238875"/>
            <a:ext cx="555427" cy="555427"/>
          </a:xfrm>
          <a:prstGeom prst="roundRect">
            <a:avLst>
              <a:gd name="adj" fmla="val 40005"/>
            </a:avLst>
          </a:prstGeom>
          <a:solidFill>
            <a:srgbClr val="282C32"/>
          </a:solidFill>
          <a:ln/>
          <a:effectLst>
            <a:outerShdw sx="100000" sy="100000" kx="0" ky="0" algn="bl" rotWithShape="0" blurRad="60960" dist="30480" dir="13500000">
              <a:srgbClr val="ffffff">
                <a:alpha val="10000"/>
              </a:srgbClr>
            </a:outerShdw>
          </a:effectLst>
        </p:spPr>
      </p:sp>
      <p:sp>
        <p:nvSpPr>
          <p:cNvPr id="14" name="Text 10"/>
          <p:cNvSpPr/>
          <p:nvPr/>
        </p:nvSpPr>
        <p:spPr>
          <a:xfrm>
            <a:off x="6522839" y="6321623"/>
            <a:ext cx="210503" cy="389811"/>
          </a:xfrm>
          <a:prstGeom prst="rect">
            <a:avLst/>
          </a:prstGeom>
          <a:noFill/>
          <a:ln/>
        </p:spPr>
        <p:txBody>
          <a:bodyPr wrap="none" lIns="0" tIns="0" rIns="0" bIns="0" rtlCol="0" anchor="t"/>
          <a:lstStyle/>
          <a:p>
            <a:pPr algn="ctr" indent="0" marL="0">
              <a:lnSpc>
                <a:spcPts val="3050"/>
              </a:lnSpc>
              <a:buNone/>
            </a:pPr>
            <a:r>
              <a:rPr lang="en-US" sz="3050" b="1" dirty="0">
                <a:solidFill>
                  <a:srgbClr val="EEEFF5"/>
                </a:solidFill>
                <a:latin typeface="Barlow Bold" pitchFamily="34" charset="0"/>
                <a:ea typeface="Barlow Bold" pitchFamily="34" charset="-122"/>
                <a:cs typeface="Barlow Bold" pitchFamily="34" charset="-120"/>
              </a:rPr>
              <a:t>3</a:t>
            </a:r>
            <a:endParaRPr lang="en-US" sz="3050" dirty="0"/>
          </a:p>
        </p:txBody>
      </p:sp>
      <p:sp>
        <p:nvSpPr>
          <p:cNvPr id="15" name="Text 11"/>
          <p:cNvSpPr/>
          <p:nvPr/>
        </p:nvSpPr>
        <p:spPr>
          <a:xfrm>
            <a:off x="7152680" y="6238875"/>
            <a:ext cx="3248501" cy="406003"/>
          </a:xfrm>
          <a:prstGeom prst="rect">
            <a:avLst/>
          </a:prstGeom>
          <a:noFill/>
          <a:ln/>
        </p:spPr>
        <p:txBody>
          <a:bodyPr wrap="none" lIns="0" tIns="0" rIns="0" bIns="0" rtlCol="0" anchor="t"/>
          <a:lstStyle/>
          <a:p>
            <a:pPr indent="0" marL="0">
              <a:lnSpc>
                <a:spcPts val="3150"/>
              </a:lnSpc>
              <a:buNone/>
            </a:pPr>
            <a:r>
              <a:rPr lang="en-US" sz="2550" b="1" dirty="0">
                <a:solidFill>
                  <a:srgbClr val="EEEFF5"/>
                </a:solidFill>
                <a:latin typeface="Barlow Bold" pitchFamily="34" charset="0"/>
                <a:ea typeface="Barlow Bold" pitchFamily="34" charset="-122"/>
                <a:cs typeface="Barlow Bold" pitchFamily="34" charset="-120"/>
              </a:rPr>
              <a:t>Late Goals</a:t>
            </a:r>
            <a:endParaRPr lang="en-US" sz="2550" dirty="0"/>
          </a:p>
        </p:txBody>
      </p:sp>
      <p:sp>
        <p:nvSpPr>
          <p:cNvPr id="16" name="Text 12"/>
          <p:cNvSpPr/>
          <p:nvPr/>
        </p:nvSpPr>
        <p:spPr>
          <a:xfrm>
            <a:off x="7152680" y="6792992"/>
            <a:ext cx="6613684" cy="395049"/>
          </a:xfrm>
          <a:prstGeom prst="rect">
            <a:avLst/>
          </a:prstGeom>
          <a:noFill/>
          <a:ln/>
        </p:spPr>
        <p:txBody>
          <a:bodyPr wrap="none" lIns="0" tIns="0" rIns="0" bIns="0" rtlCol="0" anchor="t"/>
          <a:lstStyle/>
          <a:p>
            <a:pPr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A significant portion occur in the final 15 minutes.</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52729" y="2392323"/>
            <a:ext cx="4868942" cy="3444835"/>
          </a:xfrm>
          <a:prstGeom prst="rect">
            <a:avLst/>
          </a:prstGeom>
        </p:spPr>
      </p:pic>
      <p:sp>
        <p:nvSpPr>
          <p:cNvPr id="4" name="Text 0"/>
          <p:cNvSpPr/>
          <p:nvPr/>
        </p:nvSpPr>
        <p:spPr>
          <a:xfrm>
            <a:off x="864037" y="1562338"/>
            <a:ext cx="6497003" cy="812125"/>
          </a:xfrm>
          <a:prstGeom prst="rect">
            <a:avLst/>
          </a:prstGeom>
          <a:noFill/>
          <a:ln/>
        </p:spPr>
        <p:txBody>
          <a:bodyPr wrap="none" lIns="0" tIns="0" rIns="0" bIns="0" rtlCol="0" anchor="t"/>
          <a:lstStyle/>
          <a:p>
            <a:pPr indent="0" marL="0">
              <a:lnSpc>
                <a:spcPts val="6350"/>
              </a:lnSpc>
              <a:buNone/>
            </a:pPr>
            <a:r>
              <a:rPr lang="en-US" sz="5100" b="1" dirty="0">
                <a:solidFill>
                  <a:srgbClr val="9998FF"/>
                </a:solidFill>
                <a:latin typeface="Barlow Bold" pitchFamily="34" charset="0"/>
                <a:ea typeface="Barlow Bold" pitchFamily="34" charset="-122"/>
                <a:cs typeface="Barlow Bold" pitchFamily="34" charset="-120"/>
              </a:rPr>
              <a:t>Global Stage</a:t>
            </a:r>
            <a:endParaRPr lang="en-US" sz="5100" dirty="0"/>
          </a:p>
        </p:txBody>
      </p:sp>
      <p:sp>
        <p:nvSpPr>
          <p:cNvPr id="5" name="Shape 1"/>
          <p:cNvSpPr/>
          <p:nvPr/>
        </p:nvSpPr>
        <p:spPr>
          <a:xfrm>
            <a:off x="864037" y="2744748"/>
            <a:ext cx="7415927" cy="1837849"/>
          </a:xfrm>
          <a:prstGeom prst="roundRect">
            <a:avLst>
              <a:gd name="adj" fmla="val 12090"/>
            </a:avLst>
          </a:prstGeom>
          <a:solidFill>
            <a:srgbClr val="282C32"/>
          </a:solidFill>
          <a:ln/>
          <a:effectLst>
            <a:outerShdw sx="100000" sy="100000" kx="0" ky="0" algn="bl" rotWithShape="0" blurRad="60960" dist="30480" dir="13500000">
              <a:srgbClr val="ffffff">
                <a:alpha val="10000"/>
              </a:srgbClr>
            </a:outerShdw>
          </a:effectLst>
        </p:spPr>
      </p:sp>
      <p:sp>
        <p:nvSpPr>
          <p:cNvPr id="6" name="Text 2"/>
          <p:cNvSpPr/>
          <p:nvPr/>
        </p:nvSpPr>
        <p:spPr>
          <a:xfrm>
            <a:off x="1110853" y="2991564"/>
            <a:ext cx="3248501" cy="406003"/>
          </a:xfrm>
          <a:prstGeom prst="rect">
            <a:avLst/>
          </a:prstGeom>
          <a:noFill/>
          <a:ln/>
        </p:spPr>
        <p:txBody>
          <a:bodyPr wrap="none" lIns="0" tIns="0" rIns="0" bIns="0" rtlCol="0" anchor="t"/>
          <a:lstStyle/>
          <a:p>
            <a:pPr indent="0" marL="0">
              <a:lnSpc>
                <a:spcPts val="3150"/>
              </a:lnSpc>
              <a:buNone/>
            </a:pPr>
            <a:r>
              <a:rPr lang="en-US" sz="2550" b="1" dirty="0">
                <a:solidFill>
                  <a:srgbClr val="EEEFF5"/>
                </a:solidFill>
                <a:latin typeface="Barlow Bold" pitchFamily="34" charset="0"/>
                <a:ea typeface="Barlow Bold" pitchFamily="34" charset="-122"/>
                <a:cs typeface="Barlow Bold" pitchFamily="34" charset="-120"/>
              </a:rPr>
              <a:t>Host Nations</a:t>
            </a:r>
            <a:endParaRPr lang="en-US" sz="2550" dirty="0"/>
          </a:p>
        </p:txBody>
      </p:sp>
      <p:sp>
        <p:nvSpPr>
          <p:cNvPr id="7" name="Text 3"/>
          <p:cNvSpPr/>
          <p:nvPr/>
        </p:nvSpPr>
        <p:spPr>
          <a:xfrm>
            <a:off x="1110853" y="3545681"/>
            <a:ext cx="6922294" cy="790099"/>
          </a:xfrm>
          <a:prstGeom prst="rect">
            <a:avLst/>
          </a:prstGeom>
          <a:noFill/>
          <a:ln/>
        </p:spPr>
        <p:txBody>
          <a:bodyPr wrap="square" lIns="0" tIns="0" rIns="0" bIns="0" rtlCol="0" anchor="t"/>
          <a:lstStyle/>
          <a:p>
            <a:pPr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Six host countries have emerged victorious, with 15 finishing in the top four.</a:t>
            </a:r>
            <a:endParaRPr lang="en-US" sz="1900" dirty="0"/>
          </a:p>
        </p:txBody>
      </p:sp>
      <p:sp>
        <p:nvSpPr>
          <p:cNvPr id="8" name="Shape 4"/>
          <p:cNvSpPr/>
          <p:nvPr/>
        </p:nvSpPr>
        <p:spPr>
          <a:xfrm>
            <a:off x="864037" y="4829413"/>
            <a:ext cx="7415927" cy="1837849"/>
          </a:xfrm>
          <a:prstGeom prst="roundRect">
            <a:avLst>
              <a:gd name="adj" fmla="val 12090"/>
            </a:avLst>
          </a:prstGeom>
          <a:solidFill>
            <a:srgbClr val="282C32"/>
          </a:solidFill>
          <a:ln/>
          <a:effectLst>
            <a:outerShdw sx="100000" sy="100000" kx="0" ky="0" algn="bl" rotWithShape="0" blurRad="60960" dist="30480" dir="13500000">
              <a:srgbClr val="ffffff">
                <a:alpha val="10000"/>
              </a:srgbClr>
            </a:outerShdw>
          </a:effectLst>
        </p:spPr>
      </p:sp>
      <p:sp>
        <p:nvSpPr>
          <p:cNvPr id="9" name="Text 5"/>
          <p:cNvSpPr/>
          <p:nvPr/>
        </p:nvSpPr>
        <p:spPr>
          <a:xfrm>
            <a:off x="1110853" y="5076230"/>
            <a:ext cx="3248501" cy="406003"/>
          </a:xfrm>
          <a:prstGeom prst="rect">
            <a:avLst/>
          </a:prstGeom>
          <a:noFill/>
          <a:ln/>
        </p:spPr>
        <p:txBody>
          <a:bodyPr wrap="none" lIns="0" tIns="0" rIns="0" bIns="0" rtlCol="0" anchor="t"/>
          <a:lstStyle/>
          <a:p>
            <a:pPr indent="0" marL="0">
              <a:lnSpc>
                <a:spcPts val="3150"/>
              </a:lnSpc>
              <a:buNone/>
            </a:pPr>
            <a:r>
              <a:rPr lang="en-US" sz="2550" b="1" dirty="0">
                <a:solidFill>
                  <a:srgbClr val="EEEFF5"/>
                </a:solidFill>
                <a:latin typeface="Barlow Bold" pitchFamily="34" charset="0"/>
                <a:ea typeface="Barlow Bold" pitchFamily="34" charset="-122"/>
                <a:cs typeface="Barlow Bold" pitchFamily="34" charset="-120"/>
              </a:rPr>
              <a:t>Regional Dominance</a:t>
            </a:r>
            <a:endParaRPr lang="en-US" sz="2550" dirty="0"/>
          </a:p>
        </p:txBody>
      </p:sp>
      <p:sp>
        <p:nvSpPr>
          <p:cNvPr id="10" name="Text 6"/>
          <p:cNvSpPr/>
          <p:nvPr/>
        </p:nvSpPr>
        <p:spPr>
          <a:xfrm>
            <a:off x="1110853" y="5630347"/>
            <a:ext cx="6922294" cy="790099"/>
          </a:xfrm>
          <a:prstGeom prst="rect">
            <a:avLst/>
          </a:prstGeom>
          <a:noFill/>
          <a:ln/>
        </p:spPr>
        <p:txBody>
          <a:bodyPr wrap="square" lIns="0" tIns="0" rIns="0" bIns="0" rtlCol="0" anchor="t"/>
          <a:lstStyle/>
          <a:p>
            <a:pPr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Europe leads with 12 World Cup wins, followed by South America with nine.</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4037" y="699135"/>
            <a:ext cx="6811804" cy="812125"/>
          </a:xfrm>
          <a:prstGeom prst="rect">
            <a:avLst/>
          </a:prstGeom>
          <a:noFill/>
          <a:ln/>
        </p:spPr>
        <p:txBody>
          <a:bodyPr wrap="none" lIns="0" tIns="0" rIns="0" bIns="0" rtlCol="0" anchor="t"/>
          <a:lstStyle/>
          <a:p>
            <a:pPr indent="0" marL="0">
              <a:lnSpc>
                <a:spcPts val="6350"/>
              </a:lnSpc>
              <a:buNone/>
            </a:pPr>
            <a:r>
              <a:rPr lang="en-US" sz="5100" b="1" dirty="0">
                <a:solidFill>
                  <a:srgbClr val="9998FF"/>
                </a:solidFill>
                <a:latin typeface="Barlow Bold" pitchFamily="34" charset="0"/>
                <a:ea typeface="Barlow Bold" pitchFamily="34" charset="-122"/>
                <a:cs typeface="Barlow Bold" pitchFamily="34" charset="-120"/>
              </a:rPr>
              <a:t>Records and Milestones</a:t>
            </a:r>
            <a:endParaRPr lang="en-US" sz="5100" dirty="0"/>
          </a:p>
        </p:txBody>
      </p:sp>
      <p:pic>
        <p:nvPicPr>
          <p:cNvPr id="3" name="Image 0" descr="preencoded.png">    </p:cNvPr>
          <p:cNvPicPr>
            <a:picLocks noChangeAspect="1"/>
          </p:cNvPicPr>
          <p:nvPr/>
        </p:nvPicPr>
        <p:blipFill>
          <a:blip r:embed="rId1"/>
          <a:stretch>
            <a:fillRect/>
          </a:stretch>
        </p:blipFill>
        <p:spPr>
          <a:xfrm>
            <a:off x="864037" y="2005013"/>
            <a:ext cx="6266021" cy="3872627"/>
          </a:xfrm>
          <a:prstGeom prst="rect">
            <a:avLst/>
          </a:prstGeom>
        </p:spPr>
      </p:pic>
      <p:sp>
        <p:nvSpPr>
          <p:cNvPr id="4" name="Text 1"/>
          <p:cNvSpPr/>
          <p:nvPr/>
        </p:nvSpPr>
        <p:spPr>
          <a:xfrm>
            <a:off x="864037" y="6186249"/>
            <a:ext cx="3248501" cy="406003"/>
          </a:xfrm>
          <a:prstGeom prst="rect">
            <a:avLst/>
          </a:prstGeom>
          <a:noFill/>
          <a:ln/>
        </p:spPr>
        <p:txBody>
          <a:bodyPr wrap="none" lIns="0" tIns="0" rIns="0" bIns="0" rtlCol="0" anchor="t"/>
          <a:lstStyle/>
          <a:p>
            <a:pPr algn="l" indent="0" marL="0">
              <a:lnSpc>
                <a:spcPts val="3150"/>
              </a:lnSpc>
              <a:buNone/>
            </a:pPr>
            <a:r>
              <a:rPr lang="en-US" sz="2550" b="1" dirty="0">
                <a:solidFill>
                  <a:srgbClr val="EEEFF5"/>
                </a:solidFill>
                <a:latin typeface="Barlow Bold" pitchFamily="34" charset="0"/>
                <a:ea typeface="Barlow Bold" pitchFamily="34" charset="-122"/>
                <a:cs typeface="Barlow Bold" pitchFamily="34" charset="-120"/>
              </a:rPr>
              <a:t>Biggest Win</a:t>
            </a:r>
            <a:endParaRPr lang="en-US" sz="2550" dirty="0"/>
          </a:p>
        </p:txBody>
      </p:sp>
      <p:sp>
        <p:nvSpPr>
          <p:cNvPr id="5" name="Text 2"/>
          <p:cNvSpPr/>
          <p:nvPr/>
        </p:nvSpPr>
        <p:spPr>
          <a:xfrm>
            <a:off x="864037" y="6740366"/>
            <a:ext cx="6266021" cy="790099"/>
          </a:xfrm>
          <a:prstGeom prst="rect">
            <a:avLst/>
          </a:prstGeom>
          <a:noFill/>
          <a:ln/>
        </p:spPr>
        <p:txBody>
          <a:bodyPr wrap="square" lIns="0" tIns="0" rIns="0" bIns="0" rtlCol="0" anchor="t"/>
          <a:lstStyle/>
          <a:p>
            <a:pPr algn="l"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Hungary's 10-1 victory over El Salvador in 1982 marks a record goal margin.</a:t>
            </a:r>
            <a:endParaRPr lang="en-US" sz="1900" dirty="0"/>
          </a:p>
        </p:txBody>
      </p:sp>
      <p:pic>
        <p:nvPicPr>
          <p:cNvPr id="6" name="Image 1" descr="preencoded.png">    </p:cNvPr>
          <p:cNvPicPr>
            <a:picLocks noChangeAspect="1"/>
          </p:cNvPicPr>
          <p:nvPr/>
        </p:nvPicPr>
        <p:blipFill>
          <a:blip r:embed="rId2"/>
          <a:stretch>
            <a:fillRect/>
          </a:stretch>
        </p:blipFill>
        <p:spPr>
          <a:xfrm>
            <a:off x="7500342" y="2005013"/>
            <a:ext cx="6266021" cy="3872627"/>
          </a:xfrm>
          <a:prstGeom prst="rect">
            <a:avLst/>
          </a:prstGeom>
        </p:spPr>
      </p:pic>
      <p:sp>
        <p:nvSpPr>
          <p:cNvPr id="7" name="Text 3"/>
          <p:cNvSpPr/>
          <p:nvPr/>
        </p:nvSpPr>
        <p:spPr>
          <a:xfrm>
            <a:off x="7500342" y="6186249"/>
            <a:ext cx="3248501" cy="406003"/>
          </a:xfrm>
          <a:prstGeom prst="rect">
            <a:avLst/>
          </a:prstGeom>
          <a:noFill/>
          <a:ln/>
        </p:spPr>
        <p:txBody>
          <a:bodyPr wrap="none" lIns="0" tIns="0" rIns="0" bIns="0" rtlCol="0" anchor="t"/>
          <a:lstStyle/>
          <a:p>
            <a:pPr algn="l" indent="0" marL="0">
              <a:lnSpc>
                <a:spcPts val="3150"/>
              </a:lnSpc>
              <a:buNone/>
            </a:pPr>
            <a:r>
              <a:rPr lang="en-US" sz="2550" b="1" dirty="0">
                <a:solidFill>
                  <a:srgbClr val="EEEFF5"/>
                </a:solidFill>
                <a:latin typeface="Barlow Bold" pitchFamily="34" charset="0"/>
                <a:ea typeface="Barlow Bold" pitchFamily="34" charset="-122"/>
                <a:cs typeface="Barlow Bold" pitchFamily="34" charset="-120"/>
              </a:rPr>
              <a:t>Youngest Scorer</a:t>
            </a:r>
            <a:endParaRPr lang="en-US" sz="2550" dirty="0"/>
          </a:p>
        </p:txBody>
      </p:sp>
      <p:sp>
        <p:nvSpPr>
          <p:cNvPr id="8" name="Text 4"/>
          <p:cNvSpPr/>
          <p:nvPr/>
        </p:nvSpPr>
        <p:spPr>
          <a:xfrm>
            <a:off x="7500342" y="6740366"/>
            <a:ext cx="6266021" cy="790099"/>
          </a:xfrm>
          <a:prstGeom prst="rect">
            <a:avLst/>
          </a:prstGeom>
          <a:noFill/>
          <a:ln/>
        </p:spPr>
        <p:txBody>
          <a:bodyPr wrap="square" lIns="0" tIns="0" rIns="0" bIns="0" rtlCol="0" anchor="t"/>
          <a:lstStyle/>
          <a:p>
            <a:pPr algn="l"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Brazil's Pelé holds the record for the youngest goal scorer.</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308610" y="2327196"/>
            <a:ext cx="4869061" cy="3575209"/>
          </a:xfrm>
          <a:prstGeom prst="rect">
            <a:avLst/>
          </a:prstGeom>
        </p:spPr>
      </p:pic>
      <p:sp>
        <p:nvSpPr>
          <p:cNvPr id="4" name="Text 0"/>
          <p:cNvSpPr/>
          <p:nvPr/>
        </p:nvSpPr>
        <p:spPr>
          <a:xfrm>
            <a:off x="6350437" y="843915"/>
            <a:ext cx="6974205" cy="812125"/>
          </a:xfrm>
          <a:prstGeom prst="rect">
            <a:avLst/>
          </a:prstGeom>
          <a:noFill/>
          <a:ln/>
        </p:spPr>
        <p:txBody>
          <a:bodyPr wrap="none" lIns="0" tIns="0" rIns="0" bIns="0" rtlCol="0" anchor="t"/>
          <a:lstStyle/>
          <a:p>
            <a:pPr indent="0" marL="0">
              <a:lnSpc>
                <a:spcPts val="6350"/>
              </a:lnSpc>
              <a:buNone/>
            </a:pPr>
            <a:r>
              <a:rPr lang="en-US" sz="5100" b="1" dirty="0">
                <a:solidFill>
                  <a:srgbClr val="9998FF"/>
                </a:solidFill>
                <a:latin typeface="Barlow Bold" pitchFamily="34" charset="0"/>
                <a:ea typeface="Barlow Bold" pitchFamily="34" charset="-122"/>
                <a:cs typeface="Barlow Bold" pitchFamily="34" charset="-120"/>
              </a:rPr>
              <a:t>Data Cleaning Highlights</a:t>
            </a:r>
            <a:endParaRPr lang="en-US" sz="5100" dirty="0"/>
          </a:p>
        </p:txBody>
      </p:sp>
      <p:sp>
        <p:nvSpPr>
          <p:cNvPr id="5" name="Shape 1"/>
          <p:cNvSpPr/>
          <p:nvPr/>
        </p:nvSpPr>
        <p:spPr>
          <a:xfrm>
            <a:off x="6350437" y="2303978"/>
            <a:ext cx="555427" cy="555427"/>
          </a:xfrm>
          <a:prstGeom prst="roundRect">
            <a:avLst>
              <a:gd name="adj" fmla="val 40005"/>
            </a:avLst>
          </a:prstGeom>
          <a:solidFill>
            <a:srgbClr val="282C32"/>
          </a:solidFill>
          <a:ln/>
          <a:effectLst>
            <a:outerShdw sx="100000" sy="100000" kx="0" ky="0" algn="bl" rotWithShape="0" blurRad="60960" dist="30480" dir="13500000">
              <a:srgbClr val="ffffff">
                <a:alpha val="10000"/>
              </a:srgbClr>
            </a:outerShdw>
          </a:effectLst>
        </p:spPr>
      </p:sp>
      <p:sp>
        <p:nvSpPr>
          <p:cNvPr id="6" name="Text 2"/>
          <p:cNvSpPr/>
          <p:nvPr/>
        </p:nvSpPr>
        <p:spPr>
          <a:xfrm>
            <a:off x="6559153" y="2386727"/>
            <a:ext cx="137993" cy="389811"/>
          </a:xfrm>
          <a:prstGeom prst="rect">
            <a:avLst/>
          </a:prstGeom>
          <a:noFill/>
          <a:ln/>
        </p:spPr>
        <p:txBody>
          <a:bodyPr wrap="none" lIns="0" tIns="0" rIns="0" bIns="0" rtlCol="0" anchor="t"/>
          <a:lstStyle/>
          <a:p>
            <a:pPr algn="ctr" indent="0" marL="0">
              <a:lnSpc>
                <a:spcPts val="3050"/>
              </a:lnSpc>
              <a:buNone/>
            </a:pPr>
            <a:r>
              <a:rPr lang="en-US" sz="3050" b="1" dirty="0">
                <a:solidFill>
                  <a:srgbClr val="EEEFF5"/>
                </a:solidFill>
                <a:latin typeface="Barlow Bold" pitchFamily="34" charset="0"/>
                <a:ea typeface="Barlow Bold" pitchFamily="34" charset="-122"/>
                <a:cs typeface="Barlow Bold" pitchFamily="34" charset="-120"/>
              </a:rPr>
              <a:t>1</a:t>
            </a:r>
            <a:endParaRPr lang="en-US" sz="3050" dirty="0"/>
          </a:p>
        </p:txBody>
      </p:sp>
      <p:sp>
        <p:nvSpPr>
          <p:cNvPr id="7" name="Text 3"/>
          <p:cNvSpPr/>
          <p:nvPr/>
        </p:nvSpPr>
        <p:spPr>
          <a:xfrm>
            <a:off x="7152680" y="2303978"/>
            <a:ext cx="3248501" cy="406003"/>
          </a:xfrm>
          <a:prstGeom prst="rect">
            <a:avLst/>
          </a:prstGeom>
          <a:noFill/>
          <a:ln/>
        </p:spPr>
        <p:txBody>
          <a:bodyPr wrap="none" lIns="0" tIns="0" rIns="0" bIns="0" rtlCol="0" anchor="t"/>
          <a:lstStyle/>
          <a:p>
            <a:pPr indent="0" marL="0">
              <a:lnSpc>
                <a:spcPts val="3150"/>
              </a:lnSpc>
              <a:buNone/>
            </a:pPr>
            <a:r>
              <a:rPr lang="en-US" sz="2550" b="1" dirty="0">
                <a:solidFill>
                  <a:srgbClr val="EEEFF5"/>
                </a:solidFill>
                <a:latin typeface="Barlow Bold" pitchFamily="34" charset="0"/>
                <a:ea typeface="Barlow Bold" pitchFamily="34" charset="-122"/>
                <a:cs typeface="Barlow Bold" pitchFamily="34" charset="-120"/>
              </a:rPr>
              <a:t>Data Integrity</a:t>
            </a:r>
            <a:endParaRPr lang="en-US" sz="2550" dirty="0"/>
          </a:p>
        </p:txBody>
      </p:sp>
      <p:sp>
        <p:nvSpPr>
          <p:cNvPr id="8" name="Text 4"/>
          <p:cNvSpPr/>
          <p:nvPr/>
        </p:nvSpPr>
        <p:spPr>
          <a:xfrm>
            <a:off x="7152680" y="2858095"/>
            <a:ext cx="6613684" cy="790099"/>
          </a:xfrm>
          <a:prstGeom prst="rect">
            <a:avLst/>
          </a:prstGeom>
          <a:noFill/>
          <a:ln/>
        </p:spPr>
        <p:txBody>
          <a:bodyPr wrap="square" lIns="0" tIns="0" rIns="0" bIns="0" rtlCol="0" anchor="t"/>
          <a:lstStyle/>
          <a:p>
            <a:pPr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Dropping duplicates and handling missing values ensured data accuracy.</a:t>
            </a:r>
            <a:endParaRPr lang="en-US" sz="1900" dirty="0"/>
          </a:p>
        </p:txBody>
      </p:sp>
      <p:sp>
        <p:nvSpPr>
          <p:cNvPr id="9" name="Shape 5"/>
          <p:cNvSpPr/>
          <p:nvPr/>
        </p:nvSpPr>
        <p:spPr>
          <a:xfrm>
            <a:off x="6350437" y="4172664"/>
            <a:ext cx="555427" cy="555427"/>
          </a:xfrm>
          <a:prstGeom prst="roundRect">
            <a:avLst>
              <a:gd name="adj" fmla="val 40005"/>
            </a:avLst>
          </a:prstGeom>
          <a:solidFill>
            <a:srgbClr val="282C32"/>
          </a:solidFill>
          <a:ln/>
          <a:effectLst>
            <a:outerShdw sx="100000" sy="100000" kx="0" ky="0" algn="bl" rotWithShape="0" blurRad="60960" dist="30480" dir="13500000">
              <a:srgbClr val="ffffff">
                <a:alpha val="10000"/>
              </a:srgbClr>
            </a:outerShdw>
          </a:effectLst>
        </p:spPr>
      </p:sp>
      <p:sp>
        <p:nvSpPr>
          <p:cNvPr id="10" name="Text 6"/>
          <p:cNvSpPr/>
          <p:nvPr/>
        </p:nvSpPr>
        <p:spPr>
          <a:xfrm>
            <a:off x="6519029" y="4255413"/>
            <a:ext cx="218242" cy="389811"/>
          </a:xfrm>
          <a:prstGeom prst="rect">
            <a:avLst/>
          </a:prstGeom>
          <a:noFill/>
          <a:ln/>
        </p:spPr>
        <p:txBody>
          <a:bodyPr wrap="none" lIns="0" tIns="0" rIns="0" bIns="0" rtlCol="0" anchor="t"/>
          <a:lstStyle/>
          <a:p>
            <a:pPr algn="ctr" indent="0" marL="0">
              <a:lnSpc>
                <a:spcPts val="3050"/>
              </a:lnSpc>
              <a:buNone/>
            </a:pPr>
            <a:r>
              <a:rPr lang="en-US" sz="3050" b="1" dirty="0">
                <a:solidFill>
                  <a:srgbClr val="EEEFF5"/>
                </a:solidFill>
                <a:latin typeface="Barlow Bold" pitchFamily="34" charset="0"/>
                <a:ea typeface="Barlow Bold" pitchFamily="34" charset="-122"/>
                <a:cs typeface="Barlow Bold" pitchFamily="34" charset="-120"/>
              </a:rPr>
              <a:t>2</a:t>
            </a:r>
            <a:endParaRPr lang="en-US" sz="3050" dirty="0"/>
          </a:p>
        </p:txBody>
      </p:sp>
      <p:sp>
        <p:nvSpPr>
          <p:cNvPr id="11" name="Text 7"/>
          <p:cNvSpPr/>
          <p:nvPr/>
        </p:nvSpPr>
        <p:spPr>
          <a:xfrm>
            <a:off x="7152680" y="4172664"/>
            <a:ext cx="3611880" cy="406003"/>
          </a:xfrm>
          <a:prstGeom prst="rect">
            <a:avLst/>
          </a:prstGeom>
          <a:noFill/>
          <a:ln/>
        </p:spPr>
        <p:txBody>
          <a:bodyPr wrap="none" lIns="0" tIns="0" rIns="0" bIns="0" rtlCol="0" anchor="t"/>
          <a:lstStyle/>
          <a:p>
            <a:pPr indent="0" marL="0">
              <a:lnSpc>
                <a:spcPts val="3150"/>
              </a:lnSpc>
              <a:buNone/>
            </a:pPr>
            <a:r>
              <a:rPr lang="en-US" sz="2550" b="1" dirty="0">
                <a:solidFill>
                  <a:srgbClr val="EEEFF5"/>
                </a:solidFill>
                <a:latin typeface="Barlow Bold" pitchFamily="34" charset="0"/>
                <a:ea typeface="Barlow Bold" pitchFamily="34" charset="-122"/>
                <a:cs typeface="Barlow Bold" pitchFamily="34" charset="-120"/>
              </a:rPr>
              <a:t>Datetime Transformation</a:t>
            </a:r>
            <a:endParaRPr lang="en-US" sz="2550" dirty="0"/>
          </a:p>
        </p:txBody>
      </p:sp>
      <p:sp>
        <p:nvSpPr>
          <p:cNvPr id="12" name="Text 8"/>
          <p:cNvSpPr/>
          <p:nvPr/>
        </p:nvSpPr>
        <p:spPr>
          <a:xfrm>
            <a:off x="7152680" y="4726781"/>
            <a:ext cx="6613684" cy="790099"/>
          </a:xfrm>
          <a:prstGeom prst="rect">
            <a:avLst/>
          </a:prstGeom>
          <a:noFill/>
          <a:ln/>
        </p:spPr>
        <p:txBody>
          <a:bodyPr wrap="square" lIns="0" tIns="0" rIns="0" bIns="0" rtlCol="0" anchor="t"/>
          <a:lstStyle/>
          <a:p>
            <a:pPr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Slicing and renaming the 'Datetime' column facilitated temporal analysis.</a:t>
            </a:r>
            <a:endParaRPr lang="en-US" sz="1900" dirty="0"/>
          </a:p>
        </p:txBody>
      </p:sp>
      <p:sp>
        <p:nvSpPr>
          <p:cNvPr id="13" name="Shape 9"/>
          <p:cNvSpPr/>
          <p:nvPr/>
        </p:nvSpPr>
        <p:spPr>
          <a:xfrm>
            <a:off x="6350437" y="6041350"/>
            <a:ext cx="555427" cy="555427"/>
          </a:xfrm>
          <a:prstGeom prst="roundRect">
            <a:avLst>
              <a:gd name="adj" fmla="val 40005"/>
            </a:avLst>
          </a:prstGeom>
          <a:solidFill>
            <a:srgbClr val="282C32"/>
          </a:solidFill>
          <a:ln/>
          <a:effectLst>
            <a:outerShdw sx="100000" sy="100000" kx="0" ky="0" algn="bl" rotWithShape="0" blurRad="60960" dist="30480" dir="13500000">
              <a:srgbClr val="ffffff">
                <a:alpha val="10000"/>
              </a:srgbClr>
            </a:outerShdw>
          </a:effectLst>
        </p:spPr>
      </p:sp>
      <p:sp>
        <p:nvSpPr>
          <p:cNvPr id="14" name="Text 10"/>
          <p:cNvSpPr/>
          <p:nvPr/>
        </p:nvSpPr>
        <p:spPr>
          <a:xfrm>
            <a:off x="6522839" y="6124099"/>
            <a:ext cx="210503" cy="389811"/>
          </a:xfrm>
          <a:prstGeom prst="rect">
            <a:avLst/>
          </a:prstGeom>
          <a:noFill/>
          <a:ln/>
        </p:spPr>
        <p:txBody>
          <a:bodyPr wrap="none" lIns="0" tIns="0" rIns="0" bIns="0" rtlCol="0" anchor="t"/>
          <a:lstStyle/>
          <a:p>
            <a:pPr algn="ctr" indent="0" marL="0">
              <a:lnSpc>
                <a:spcPts val="3050"/>
              </a:lnSpc>
              <a:buNone/>
            </a:pPr>
            <a:r>
              <a:rPr lang="en-US" sz="3050" b="1" dirty="0">
                <a:solidFill>
                  <a:srgbClr val="EEEFF5"/>
                </a:solidFill>
                <a:latin typeface="Barlow Bold" pitchFamily="34" charset="0"/>
                <a:ea typeface="Barlow Bold" pitchFamily="34" charset="-122"/>
                <a:cs typeface="Barlow Bold" pitchFamily="34" charset="-120"/>
              </a:rPr>
              <a:t>3</a:t>
            </a:r>
            <a:endParaRPr lang="en-US" sz="3050" dirty="0"/>
          </a:p>
        </p:txBody>
      </p:sp>
      <p:sp>
        <p:nvSpPr>
          <p:cNvPr id="15" name="Text 11"/>
          <p:cNvSpPr/>
          <p:nvPr/>
        </p:nvSpPr>
        <p:spPr>
          <a:xfrm>
            <a:off x="7152680" y="6041350"/>
            <a:ext cx="3248501" cy="406003"/>
          </a:xfrm>
          <a:prstGeom prst="rect">
            <a:avLst/>
          </a:prstGeom>
          <a:noFill/>
          <a:ln/>
        </p:spPr>
        <p:txBody>
          <a:bodyPr wrap="none" lIns="0" tIns="0" rIns="0" bIns="0" rtlCol="0" anchor="t"/>
          <a:lstStyle/>
          <a:p>
            <a:pPr indent="0" marL="0">
              <a:lnSpc>
                <a:spcPts val="3150"/>
              </a:lnSpc>
              <a:buNone/>
            </a:pPr>
            <a:r>
              <a:rPr lang="en-US" sz="2550" b="1" dirty="0">
                <a:solidFill>
                  <a:srgbClr val="EEEFF5"/>
                </a:solidFill>
                <a:latin typeface="Barlow Bold" pitchFamily="34" charset="0"/>
                <a:ea typeface="Barlow Bold" pitchFamily="34" charset="-122"/>
                <a:cs typeface="Barlow Bold" pitchFamily="34" charset="-120"/>
              </a:rPr>
              <a:t>Feature Engineering</a:t>
            </a:r>
            <a:endParaRPr lang="en-US" sz="2550" dirty="0"/>
          </a:p>
        </p:txBody>
      </p:sp>
      <p:sp>
        <p:nvSpPr>
          <p:cNvPr id="16" name="Text 12"/>
          <p:cNvSpPr/>
          <p:nvPr/>
        </p:nvSpPr>
        <p:spPr>
          <a:xfrm>
            <a:off x="7152680" y="6595467"/>
            <a:ext cx="6613684" cy="790099"/>
          </a:xfrm>
          <a:prstGeom prst="rect">
            <a:avLst/>
          </a:prstGeom>
          <a:noFill/>
          <a:ln/>
        </p:spPr>
        <p:txBody>
          <a:bodyPr wrap="square" lIns="0" tIns="0" rIns="0" bIns="0" rtlCol="0" anchor="t"/>
          <a:lstStyle/>
          <a:p>
            <a:pPr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Creating new columns like 'Goals' and 'Outcome_Of_The_Match' enriched the dataset.</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4037" y="699135"/>
            <a:ext cx="6497003" cy="812125"/>
          </a:xfrm>
          <a:prstGeom prst="rect">
            <a:avLst/>
          </a:prstGeom>
          <a:noFill/>
          <a:ln/>
        </p:spPr>
        <p:txBody>
          <a:bodyPr wrap="none" lIns="0" tIns="0" rIns="0" bIns="0" rtlCol="0" anchor="t"/>
          <a:lstStyle/>
          <a:p>
            <a:pPr indent="0" marL="0">
              <a:lnSpc>
                <a:spcPts val="6350"/>
              </a:lnSpc>
              <a:buNone/>
            </a:pPr>
            <a:r>
              <a:rPr lang="en-US" sz="5100" b="1" dirty="0">
                <a:solidFill>
                  <a:srgbClr val="9998FF"/>
                </a:solidFill>
                <a:latin typeface="Barlow Bold" pitchFamily="34" charset="0"/>
                <a:ea typeface="Barlow Bold" pitchFamily="34" charset="-122"/>
                <a:cs typeface="Barlow Bold" pitchFamily="34" charset="-120"/>
              </a:rPr>
              <a:t>Visualizing the Data</a:t>
            </a:r>
            <a:endParaRPr lang="en-US" sz="5100" dirty="0"/>
          </a:p>
        </p:txBody>
      </p:sp>
      <p:pic>
        <p:nvPicPr>
          <p:cNvPr id="3" name="Image 0" descr="preencoded.png">    </p:cNvPr>
          <p:cNvPicPr>
            <a:picLocks noChangeAspect="1"/>
          </p:cNvPicPr>
          <p:nvPr/>
        </p:nvPicPr>
        <p:blipFill>
          <a:blip r:embed="rId1"/>
          <a:stretch>
            <a:fillRect/>
          </a:stretch>
        </p:blipFill>
        <p:spPr>
          <a:xfrm>
            <a:off x="864037" y="2005013"/>
            <a:ext cx="6266021" cy="3872627"/>
          </a:xfrm>
          <a:prstGeom prst="rect">
            <a:avLst/>
          </a:prstGeom>
        </p:spPr>
      </p:pic>
      <p:sp>
        <p:nvSpPr>
          <p:cNvPr id="4" name="Text 1"/>
          <p:cNvSpPr/>
          <p:nvPr/>
        </p:nvSpPr>
        <p:spPr>
          <a:xfrm>
            <a:off x="864037" y="6186249"/>
            <a:ext cx="3248501" cy="406003"/>
          </a:xfrm>
          <a:prstGeom prst="rect">
            <a:avLst/>
          </a:prstGeom>
          <a:noFill/>
          <a:ln/>
        </p:spPr>
        <p:txBody>
          <a:bodyPr wrap="none" lIns="0" tIns="0" rIns="0" bIns="0" rtlCol="0" anchor="t"/>
          <a:lstStyle/>
          <a:p>
            <a:pPr algn="l" indent="0" marL="0">
              <a:lnSpc>
                <a:spcPts val="3150"/>
              </a:lnSpc>
              <a:buNone/>
            </a:pPr>
            <a:r>
              <a:rPr lang="en-US" sz="2550" b="1" dirty="0">
                <a:solidFill>
                  <a:srgbClr val="EEEFF5"/>
                </a:solidFill>
                <a:latin typeface="Barlow Bold" pitchFamily="34" charset="0"/>
                <a:ea typeface="Barlow Bold" pitchFamily="34" charset="-122"/>
                <a:cs typeface="Barlow Bold" pitchFamily="34" charset="-120"/>
              </a:rPr>
              <a:t>Attendance Over Time</a:t>
            </a:r>
            <a:endParaRPr lang="en-US" sz="2550" dirty="0"/>
          </a:p>
        </p:txBody>
      </p:sp>
      <p:sp>
        <p:nvSpPr>
          <p:cNvPr id="5" name="Text 2"/>
          <p:cNvSpPr/>
          <p:nvPr/>
        </p:nvSpPr>
        <p:spPr>
          <a:xfrm>
            <a:off x="864037" y="6740366"/>
            <a:ext cx="6266021" cy="790099"/>
          </a:xfrm>
          <a:prstGeom prst="rect">
            <a:avLst/>
          </a:prstGeom>
          <a:noFill/>
          <a:ln/>
        </p:spPr>
        <p:txBody>
          <a:bodyPr wrap="square" lIns="0" tIns="0" rIns="0" bIns="0" rtlCol="0" anchor="t"/>
          <a:lstStyle/>
          <a:p>
            <a:pPr algn="l"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Visualizing attendance trends reveals the growing global appeal of the World Cup.</a:t>
            </a:r>
            <a:endParaRPr lang="en-US" sz="1900" dirty="0"/>
          </a:p>
        </p:txBody>
      </p:sp>
      <p:pic>
        <p:nvPicPr>
          <p:cNvPr id="6" name="Image 1" descr="preencoded.png">    </p:cNvPr>
          <p:cNvPicPr>
            <a:picLocks noChangeAspect="1"/>
          </p:cNvPicPr>
          <p:nvPr/>
        </p:nvPicPr>
        <p:blipFill>
          <a:blip r:embed="rId2"/>
          <a:stretch>
            <a:fillRect/>
          </a:stretch>
        </p:blipFill>
        <p:spPr>
          <a:xfrm>
            <a:off x="7500342" y="2005013"/>
            <a:ext cx="6266021" cy="3872627"/>
          </a:xfrm>
          <a:prstGeom prst="rect">
            <a:avLst/>
          </a:prstGeom>
        </p:spPr>
      </p:pic>
      <p:sp>
        <p:nvSpPr>
          <p:cNvPr id="7" name="Text 3"/>
          <p:cNvSpPr/>
          <p:nvPr/>
        </p:nvSpPr>
        <p:spPr>
          <a:xfrm>
            <a:off x="7500342" y="6186249"/>
            <a:ext cx="3417927" cy="406003"/>
          </a:xfrm>
          <a:prstGeom prst="rect">
            <a:avLst/>
          </a:prstGeom>
          <a:noFill/>
          <a:ln/>
        </p:spPr>
        <p:txBody>
          <a:bodyPr wrap="none" lIns="0" tIns="0" rIns="0" bIns="0" rtlCol="0" anchor="t"/>
          <a:lstStyle/>
          <a:p>
            <a:pPr algn="l" indent="0" marL="0">
              <a:lnSpc>
                <a:spcPts val="3150"/>
              </a:lnSpc>
              <a:buNone/>
            </a:pPr>
            <a:r>
              <a:rPr lang="en-US" sz="2550" b="1" dirty="0">
                <a:solidFill>
                  <a:srgbClr val="EEEFF5"/>
                </a:solidFill>
                <a:latin typeface="Barlow Bold" pitchFamily="34" charset="0"/>
                <a:ea typeface="Barlow Bold" pitchFamily="34" charset="-122"/>
                <a:cs typeface="Barlow Bold" pitchFamily="34" charset="-120"/>
              </a:rPr>
              <a:t>Geographic Distribution</a:t>
            </a:r>
            <a:endParaRPr lang="en-US" sz="2550" dirty="0"/>
          </a:p>
        </p:txBody>
      </p:sp>
      <p:sp>
        <p:nvSpPr>
          <p:cNvPr id="8" name="Text 4"/>
          <p:cNvSpPr/>
          <p:nvPr/>
        </p:nvSpPr>
        <p:spPr>
          <a:xfrm>
            <a:off x="7500342" y="6740366"/>
            <a:ext cx="6266021" cy="790099"/>
          </a:xfrm>
          <a:prstGeom prst="rect">
            <a:avLst/>
          </a:prstGeom>
          <a:noFill/>
          <a:ln/>
        </p:spPr>
        <p:txBody>
          <a:bodyPr wrap="square" lIns="0" tIns="0" rIns="0" bIns="0" rtlCol="0" anchor="t"/>
          <a:lstStyle/>
          <a:p>
            <a:pPr algn="l"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Mapping host cities and match locations highlights the tournament's global reach.</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2118" y="591979"/>
            <a:ext cx="8022908" cy="706874"/>
          </a:xfrm>
          <a:prstGeom prst="rect">
            <a:avLst/>
          </a:prstGeom>
          <a:noFill/>
          <a:ln/>
        </p:spPr>
        <p:txBody>
          <a:bodyPr wrap="none" lIns="0" tIns="0" rIns="0" bIns="0" rtlCol="0" anchor="t"/>
          <a:lstStyle/>
          <a:p>
            <a:pPr indent="0" marL="0">
              <a:lnSpc>
                <a:spcPts val="5550"/>
              </a:lnSpc>
              <a:buNone/>
            </a:pPr>
            <a:r>
              <a:rPr lang="en-US" sz="4450" b="1" dirty="0">
                <a:solidFill>
                  <a:srgbClr val="9998FF"/>
                </a:solidFill>
                <a:latin typeface="Barlow Bold" pitchFamily="34" charset="0"/>
                <a:ea typeface="Barlow Bold" pitchFamily="34" charset="-122"/>
                <a:cs typeface="Barlow Bold" pitchFamily="34" charset="-120"/>
              </a:rPr>
              <a:t>Insights from WC Players &amp; WC’s</a:t>
            </a:r>
            <a:endParaRPr lang="en-US" sz="4450" dirty="0"/>
          </a:p>
        </p:txBody>
      </p:sp>
      <p:sp>
        <p:nvSpPr>
          <p:cNvPr id="3" name="Text 1"/>
          <p:cNvSpPr/>
          <p:nvPr/>
        </p:nvSpPr>
        <p:spPr>
          <a:xfrm>
            <a:off x="752118" y="1728549"/>
            <a:ext cx="13126164" cy="687705"/>
          </a:xfrm>
          <a:prstGeom prst="rect">
            <a:avLst/>
          </a:prstGeom>
          <a:noFill/>
          <a:ln/>
        </p:spPr>
        <p:txBody>
          <a:bodyPr wrap="square" lIns="0" tIns="0" rIns="0" bIns="0" rtlCol="0" anchor="t"/>
          <a:lstStyle/>
          <a:p>
            <a:pPr algn="l" marL="342900" indent="-342900">
              <a:lnSpc>
                <a:spcPts val="2700"/>
              </a:lnSpc>
              <a:buSzPct val="100000"/>
              <a:buFont typeface="+mj-lt"/>
              <a:buAutoNum type="arabicPeriod" startAt="1"/>
            </a:pPr>
            <a:r>
              <a:rPr lang="en-US" sz="1650" dirty="0">
                <a:solidFill>
                  <a:srgbClr val="EEEFF5"/>
                </a:solidFill>
                <a:latin typeface="Montserrat" pitchFamily="34" charset="0"/>
                <a:ea typeface="Montserrat" pitchFamily="34" charset="-122"/>
                <a:cs typeface="Montserrat" pitchFamily="34" charset="-120"/>
              </a:rPr>
              <a:t>Top Scorers (Goals): • RONALDO: 13 goals • KLOSE: 12 goals • Uwe SEELER: 9 goals • MÜLLER: 9 goals • Gerd MUELLER: 9 goals</a:t>
            </a:r>
            <a:endParaRPr lang="en-US" sz="1650" dirty="0"/>
          </a:p>
        </p:txBody>
      </p:sp>
      <p:sp>
        <p:nvSpPr>
          <p:cNvPr id="4" name="Text 2"/>
          <p:cNvSpPr/>
          <p:nvPr/>
        </p:nvSpPr>
        <p:spPr>
          <a:xfrm>
            <a:off x="752118" y="2491383"/>
            <a:ext cx="13126164" cy="687705"/>
          </a:xfrm>
          <a:prstGeom prst="rect">
            <a:avLst/>
          </a:prstGeom>
          <a:noFill/>
          <a:ln/>
        </p:spPr>
        <p:txBody>
          <a:bodyPr wrap="square" lIns="0" tIns="0" rIns="0" bIns="0" rtlCol="0" anchor="t"/>
          <a:lstStyle/>
          <a:p>
            <a:pPr algn="l" marL="342900" indent="-342900">
              <a:lnSpc>
                <a:spcPts val="2700"/>
              </a:lnSpc>
              <a:buSzPct val="100000"/>
              <a:buFont typeface="+mj-lt"/>
              <a:buAutoNum type="arabicPeriod" startAt="2"/>
            </a:pPr>
            <a:r>
              <a:rPr lang="en-US" sz="1650" dirty="0">
                <a:solidFill>
                  <a:srgbClr val="EEEFF5"/>
                </a:solidFill>
                <a:latin typeface="Montserrat" pitchFamily="34" charset="0"/>
                <a:ea typeface="Montserrat" pitchFamily="34" charset="-122"/>
                <a:cs typeface="Montserrat" pitchFamily="34" charset="-120"/>
              </a:rPr>
              <a:t>Player Participation by Team: • Brazil: 2,403 players • Italy: 1,843 players • Argentina: 1,807 players • England: 1,378 players • West Germany (FRG): 1,364 players</a:t>
            </a:r>
            <a:endParaRPr lang="en-US" sz="1650" dirty="0"/>
          </a:p>
        </p:txBody>
      </p:sp>
      <p:sp>
        <p:nvSpPr>
          <p:cNvPr id="5" name="Text 3"/>
          <p:cNvSpPr/>
          <p:nvPr/>
        </p:nvSpPr>
        <p:spPr>
          <a:xfrm>
            <a:off x="752118" y="3254216"/>
            <a:ext cx="13126164" cy="687705"/>
          </a:xfrm>
          <a:prstGeom prst="rect">
            <a:avLst/>
          </a:prstGeom>
          <a:noFill/>
          <a:ln/>
        </p:spPr>
        <p:txBody>
          <a:bodyPr wrap="square" lIns="0" tIns="0" rIns="0" bIns="0" rtlCol="0" anchor="t"/>
          <a:lstStyle/>
          <a:p>
            <a:pPr algn="l" marL="342900" indent="-342900">
              <a:lnSpc>
                <a:spcPts val="2700"/>
              </a:lnSpc>
              <a:buSzPct val="100000"/>
              <a:buFont typeface="+mj-lt"/>
              <a:buAutoNum type="arabicPeriod" startAt="3"/>
            </a:pPr>
            <a:r>
              <a:rPr lang="en-US" sz="1650" dirty="0">
                <a:solidFill>
                  <a:srgbClr val="EEEFF5"/>
                </a:solidFill>
                <a:latin typeface="Montserrat" pitchFamily="34" charset="0"/>
                <a:ea typeface="Montserrat" pitchFamily="34" charset="-122"/>
                <a:cs typeface="Montserrat" pitchFamily="34" charset="-120"/>
              </a:rPr>
              <a:t>Coach Appearances: • Luiz Felipe Scolari (Brazil): 575 appearances • Helmut Schoen (FRG): 550 appearances • Carlos Alberto Parreira (Brazil): 514 appearances</a:t>
            </a:r>
            <a:endParaRPr lang="en-US" sz="1650" dirty="0"/>
          </a:p>
        </p:txBody>
      </p:sp>
      <p:sp>
        <p:nvSpPr>
          <p:cNvPr id="6" name="Text 4"/>
          <p:cNvSpPr/>
          <p:nvPr/>
        </p:nvSpPr>
        <p:spPr>
          <a:xfrm>
            <a:off x="752118" y="4017050"/>
            <a:ext cx="13126164" cy="343853"/>
          </a:xfrm>
          <a:prstGeom prst="rect">
            <a:avLst/>
          </a:prstGeom>
          <a:noFill/>
          <a:ln/>
        </p:spPr>
        <p:txBody>
          <a:bodyPr wrap="none" lIns="0" tIns="0" rIns="0" bIns="0" rtlCol="0" anchor="t"/>
          <a:lstStyle/>
          <a:p>
            <a:pPr algn="l" marL="342900" indent="-342900">
              <a:lnSpc>
                <a:spcPts val="2700"/>
              </a:lnSpc>
              <a:buSzPct val="100000"/>
              <a:buFont typeface="+mj-lt"/>
              <a:buAutoNum type="arabicPeriod" startAt="4"/>
            </a:pPr>
            <a:r>
              <a:rPr lang="en-US" sz="1650" dirty="0">
                <a:solidFill>
                  <a:srgbClr val="EEEFF5"/>
                </a:solidFill>
                <a:latin typeface="Montserrat" pitchFamily="34" charset="0"/>
                <a:ea typeface="Montserrat" pitchFamily="34" charset="-122"/>
                <a:cs typeface="Montserrat" pitchFamily="34" charset="-120"/>
              </a:rPr>
              <a:t>Goals by Player Position: • C (Center): 144 goals</a:t>
            </a:r>
            <a:endParaRPr lang="en-US" sz="1650" dirty="0"/>
          </a:p>
        </p:txBody>
      </p:sp>
      <p:sp>
        <p:nvSpPr>
          <p:cNvPr id="7" name="Text 5"/>
          <p:cNvSpPr/>
          <p:nvPr/>
        </p:nvSpPr>
        <p:spPr>
          <a:xfrm>
            <a:off x="752118" y="4436031"/>
            <a:ext cx="13126164" cy="343853"/>
          </a:xfrm>
          <a:prstGeom prst="rect">
            <a:avLst/>
          </a:prstGeom>
          <a:noFill/>
          <a:ln/>
        </p:spPr>
        <p:txBody>
          <a:bodyPr wrap="none" lIns="0" tIns="0" rIns="0" bIns="0" rtlCol="0" anchor="t"/>
          <a:lstStyle/>
          <a:p>
            <a:pPr algn="l" marL="342900" indent="-342900">
              <a:lnSpc>
                <a:spcPts val="2700"/>
              </a:lnSpc>
              <a:buSzPct val="100000"/>
              <a:buFont typeface="+mj-lt"/>
              <a:buAutoNum type="arabicPeriod" startAt="5"/>
            </a:pPr>
            <a:r>
              <a:rPr lang="en-US" sz="1650" dirty="0">
                <a:solidFill>
                  <a:srgbClr val="EEEFF5"/>
                </a:solidFill>
                <a:latin typeface="Montserrat" pitchFamily="34" charset="0"/>
                <a:ea typeface="Montserrat" pitchFamily="34" charset="-122"/>
                <a:cs typeface="Montserrat" pitchFamily="34" charset="-120"/>
              </a:rPr>
              <a:t>Position Frequency: • Goalkeeper (GK): 2,441 players • Center (C): 1,510 players</a:t>
            </a:r>
            <a:endParaRPr lang="en-US" sz="1650" dirty="0"/>
          </a:p>
        </p:txBody>
      </p:sp>
      <p:sp>
        <p:nvSpPr>
          <p:cNvPr id="8" name="Text 6"/>
          <p:cNvSpPr/>
          <p:nvPr/>
        </p:nvSpPr>
        <p:spPr>
          <a:xfrm>
            <a:off x="752118" y="4855012"/>
            <a:ext cx="13126164" cy="343853"/>
          </a:xfrm>
          <a:prstGeom prst="rect">
            <a:avLst/>
          </a:prstGeom>
          <a:noFill/>
          <a:ln/>
        </p:spPr>
        <p:txBody>
          <a:bodyPr wrap="none" lIns="0" tIns="0" rIns="0" bIns="0" rtlCol="0" anchor="t"/>
          <a:lstStyle/>
          <a:p>
            <a:pPr algn="l" marL="342900" indent="-342900">
              <a:lnSpc>
                <a:spcPts val="2700"/>
              </a:lnSpc>
              <a:buSzPct val="100000"/>
              <a:buFont typeface="+mj-lt"/>
              <a:buAutoNum type="arabicPeriod" startAt="6"/>
            </a:pPr>
            <a:r>
              <a:rPr lang="en-US" sz="1650" dirty="0">
                <a:solidFill>
                  <a:srgbClr val="EEEFF5"/>
                </a:solidFill>
                <a:latin typeface="Montserrat" pitchFamily="34" charset="0"/>
                <a:ea typeface="Montserrat" pitchFamily="34" charset="-122"/>
                <a:cs typeface="Montserrat" pitchFamily="34" charset="-120"/>
              </a:rPr>
              <a:t>Goals Trend Over Time: • Goals increased from 70 in 1930 to a peak of 171 in 1998 and 2014.</a:t>
            </a:r>
            <a:endParaRPr lang="en-US" sz="1650" dirty="0"/>
          </a:p>
        </p:txBody>
      </p:sp>
      <p:sp>
        <p:nvSpPr>
          <p:cNvPr id="9" name="Text 7"/>
          <p:cNvSpPr/>
          <p:nvPr/>
        </p:nvSpPr>
        <p:spPr>
          <a:xfrm>
            <a:off x="752118" y="5273993"/>
            <a:ext cx="13126164" cy="343853"/>
          </a:xfrm>
          <a:prstGeom prst="rect">
            <a:avLst/>
          </a:prstGeom>
          <a:noFill/>
          <a:ln/>
        </p:spPr>
        <p:txBody>
          <a:bodyPr wrap="none" lIns="0" tIns="0" rIns="0" bIns="0" rtlCol="0" anchor="t"/>
          <a:lstStyle/>
          <a:p>
            <a:pPr algn="l" marL="342900" indent="-342900">
              <a:lnSpc>
                <a:spcPts val="2700"/>
              </a:lnSpc>
              <a:buSzPct val="100000"/>
              <a:buFont typeface="+mj-lt"/>
              <a:buAutoNum type="arabicPeriod" startAt="7"/>
            </a:pPr>
            <a:r>
              <a:rPr lang="en-US" sz="1650" dirty="0">
                <a:solidFill>
                  <a:srgbClr val="EEEFF5"/>
                </a:solidFill>
                <a:latin typeface="Montserrat" pitchFamily="34" charset="0"/>
                <a:ea typeface="Montserrat" pitchFamily="34" charset="-122"/>
                <a:cs typeface="Montserrat" pitchFamily="34" charset="-120"/>
              </a:rPr>
              <a:t>Top World Cup Winners: • Brazil: 5 wins • Italy: 4 wins • Germany: 4 wins</a:t>
            </a:r>
            <a:endParaRPr lang="en-US" sz="1650" dirty="0"/>
          </a:p>
        </p:txBody>
      </p:sp>
      <p:sp>
        <p:nvSpPr>
          <p:cNvPr id="10" name="Text 8"/>
          <p:cNvSpPr/>
          <p:nvPr/>
        </p:nvSpPr>
        <p:spPr>
          <a:xfrm>
            <a:off x="752118" y="5692973"/>
            <a:ext cx="13126164" cy="343853"/>
          </a:xfrm>
          <a:prstGeom prst="rect">
            <a:avLst/>
          </a:prstGeom>
          <a:noFill/>
          <a:ln/>
        </p:spPr>
        <p:txBody>
          <a:bodyPr wrap="none" lIns="0" tIns="0" rIns="0" bIns="0" rtlCol="0" anchor="t"/>
          <a:lstStyle/>
          <a:p>
            <a:pPr algn="l" marL="342900" indent="-342900">
              <a:lnSpc>
                <a:spcPts val="2700"/>
              </a:lnSpc>
              <a:buSzPct val="100000"/>
              <a:buFont typeface="+mj-lt"/>
              <a:buAutoNum type="arabicPeriod" startAt="8"/>
            </a:pPr>
            <a:r>
              <a:rPr lang="en-US" sz="1650" dirty="0">
                <a:solidFill>
                  <a:srgbClr val="EEEFF5"/>
                </a:solidFill>
                <a:latin typeface="Montserrat" pitchFamily="34" charset="0"/>
                <a:ea typeface="Montserrat" pitchFamily="34" charset="-122"/>
                <a:cs typeface="Montserrat" pitchFamily="34" charset="-120"/>
              </a:rPr>
              <a:t>Top World Cup Finalists: • Germany: 4 times finalist • Argentina: 3 times finalist • Netherlands: 3 times finalist</a:t>
            </a:r>
            <a:endParaRPr lang="en-US" sz="1650" dirty="0"/>
          </a:p>
        </p:txBody>
      </p:sp>
      <p:sp>
        <p:nvSpPr>
          <p:cNvPr id="11" name="Text 9"/>
          <p:cNvSpPr/>
          <p:nvPr/>
        </p:nvSpPr>
        <p:spPr>
          <a:xfrm>
            <a:off x="752118" y="6111954"/>
            <a:ext cx="13126164" cy="687705"/>
          </a:xfrm>
          <a:prstGeom prst="rect">
            <a:avLst/>
          </a:prstGeom>
          <a:noFill/>
          <a:ln/>
        </p:spPr>
        <p:txBody>
          <a:bodyPr wrap="square" lIns="0" tIns="0" rIns="0" bIns="0" rtlCol="0" anchor="t"/>
          <a:lstStyle/>
          <a:p>
            <a:pPr algn="l" marL="342900" indent="-342900">
              <a:lnSpc>
                <a:spcPts val="2700"/>
              </a:lnSpc>
              <a:buSzPct val="100000"/>
              <a:buFont typeface="+mj-lt"/>
              <a:buAutoNum type="arabicPeriod" startAt="9"/>
            </a:pPr>
            <a:r>
              <a:rPr lang="en-US" sz="1650" dirty="0">
                <a:solidFill>
                  <a:srgbClr val="EEEFF5"/>
                </a:solidFill>
                <a:latin typeface="Montserrat" pitchFamily="34" charset="0"/>
                <a:ea typeface="Montserrat" pitchFamily="34" charset="-122"/>
                <a:cs typeface="Montserrat" pitchFamily="34" charset="-120"/>
              </a:rPr>
              <a:t>Attendance Trends Over Time: • Attendance rose significantly from 590,549 in 1930 to 3,587,538 in 1994, with recent tournaments drawing millions of spectators.</a:t>
            </a:r>
            <a:endParaRPr lang="en-US" sz="1650" dirty="0"/>
          </a:p>
        </p:txBody>
      </p:sp>
      <p:sp>
        <p:nvSpPr>
          <p:cNvPr id="12" name="Text 10"/>
          <p:cNvSpPr/>
          <p:nvPr/>
        </p:nvSpPr>
        <p:spPr>
          <a:xfrm>
            <a:off x="752118" y="6874788"/>
            <a:ext cx="13126164" cy="343853"/>
          </a:xfrm>
          <a:prstGeom prst="rect">
            <a:avLst/>
          </a:prstGeom>
          <a:noFill/>
          <a:ln/>
        </p:spPr>
        <p:txBody>
          <a:bodyPr wrap="none" lIns="0" tIns="0" rIns="0" bIns="0" rtlCol="0" anchor="t"/>
          <a:lstStyle/>
          <a:p>
            <a:pPr algn="l" marL="342900" indent="-342900">
              <a:lnSpc>
                <a:spcPts val="2700"/>
              </a:lnSpc>
              <a:buSzPct val="100000"/>
              <a:buFont typeface="+mj-lt"/>
              <a:buAutoNum type="arabicPeriod" startAt="10"/>
            </a:pPr>
            <a:r>
              <a:rPr lang="en-US" sz="1650" dirty="0">
                <a:solidFill>
                  <a:srgbClr val="EEEFF5"/>
                </a:solidFill>
                <a:latin typeface="Montserrat" pitchFamily="34" charset="0"/>
                <a:ea typeface="Montserrat" pitchFamily="34" charset="-122"/>
                <a:cs typeface="Montserrat" pitchFamily="34" charset="-120"/>
              </a:rPr>
              <a:t>Host Country Wins: • Host countries have won the World Cup 6 times.</a:t>
            </a:r>
            <a:endParaRPr lang="en-US" sz="1650" dirty="0"/>
          </a:p>
        </p:txBody>
      </p:sp>
      <p:sp>
        <p:nvSpPr>
          <p:cNvPr id="13" name="Text 11"/>
          <p:cNvSpPr/>
          <p:nvPr/>
        </p:nvSpPr>
        <p:spPr>
          <a:xfrm>
            <a:off x="752118" y="7293769"/>
            <a:ext cx="13126164" cy="343853"/>
          </a:xfrm>
          <a:prstGeom prst="rect">
            <a:avLst/>
          </a:prstGeom>
          <a:noFill/>
          <a:ln/>
        </p:spPr>
        <p:txBody>
          <a:bodyPr wrap="none" lIns="0" tIns="0" rIns="0" bIns="0" rtlCol="0" anchor="t"/>
          <a:lstStyle/>
          <a:p>
            <a:pPr algn="l" marL="342900" indent="-342900">
              <a:lnSpc>
                <a:spcPts val="2700"/>
              </a:lnSpc>
              <a:buSzPct val="100000"/>
              <a:buFont typeface="+mj-lt"/>
              <a:buAutoNum type="arabicPeriod" startAt="11"/>
            </a:pPr>
            <a:r>
              <a:rPr lang="en-US" sz="1650" dirty="0">
                <a:solidFill>
                  <a:srgbClr val="EEEFF5"/>
                </a:solidFill>
                <a:latin typeface="Montserrat" pitchFamily="34" charset="0"/>
                <a:ea typeface="Montserrat" pitchFamily="34" charset="-122"/>
                <a:cs typeface="Montserrat" pitchFamily="34" charset="-120"/>
              </a:rPr>
              <a:t>Host Country Top 4 Finishes: • Host countries finished in the top 4, 15 times.</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1458635"/>
            <a:ext cx="7415927" cy="3361849"/>
          </a:xfrm>
          <a:prstGeom prst="rect">
            <a:avLst/>
          </a:prstGeom>
          <a:noFill/>
          <a:ln/>
        </p:spPr>
        <p:txBody>
          <a:bodyPr wrap="square" lIns="0" tIns="0" rIns="0" bIns="0" rtlCol="0" anchor="t"/>
          <a:lstStyle/>
          <a:p>
            <a:pPr indent="0" marL="0">
              <a:lnSpc>
                <a:spcPts val="8800"/>
              </a:lnSpc>
              <a:buNone/>
            </a:pPr>
            <a:r>
              <a:rPr lang="en-US" sz="7050" b="1" dirty="0">
                <a:solidFill>
                  <a:srgbClr val="9998FF"/>
                </a:solidFill>
                <a:latin typeface="Barlow Bold" pitchFamily="34" charset="0"/>
                <a:ea typeface="Barlow Bold" pitchFamily="34" charset="-122"/>
                <a:cs typeface="Barlow Bold" pitchFamily="34" charset="-120"/>
              </a:rPr>
              <a:t>Thank you for your time and attention.</a:t>
            </a:r>
            <a:endParaRPr lang="en-US" sz="7050" dirty="0"/>
          </a:p>
        </p:txBody>
      </p:sp>
      <p:sp>
        <p:nvSpPr>
          <p:cNvPr id="4" name="Text 1"/>
          <p:cNvSpPr/>
          <p:nvPr/>
        </p:nvSpPr>
        <p:spPr>
          <a:xfrm>
            <a:off x="864037" y="5190768"/>
            <a:ext cx="7415927" cy="1580198"/>
          </a:xfrm>
          <a:prstGeom prst="rect">
            <a:avLst/>
          </a:prstGeom>
          <a:noFill/>
          <a:ln/>
        </p:spPr>
        <p:txBody>
          <a:bodyPr wrap="square" lIns="0" tIns="0" rIns="0" bIns="0" rtlCol="0" anchor="t"/>
          <a:lstStyle/>
          <a:p>
            <a:pPr indent="0" marL="0">
              <a:lnSpc>
                <a:spcPts val="3100"/>
              </a:lnSpc>
              <a:buNone/>
            </a:pPr>
            <a:r>
              <a:rPr lang="en-US" sz="1900" dirty="0">
                <a:solidFill>
                  <a:srgbClr val="EEEFF5"/>
                </a:solidFill>
                <a:latin typeface="Montserrat" pitchFamily="34" charset="0"/>
                <a:ea typeface="Montserrat" pitchFamily="34" charset="-122"/>
                <a:cs typeface="Montserrat" pitchFamily="34" charset="-120"/>
              </a:rPr>
              <a:t>We hope you found this presentation insightful and informative. We'd love to hear your thoughts and feedback. Please reach out to us if you have any questions or want to discuss further.</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2024-10-24T07:58:00Z</dcterms:created>
  <dcterms:modified xsi:type="dcterms:W3CDTF">2024-10-24T07:58:00Z</dcterms:modified>
</cp:coreProperties>
</file>